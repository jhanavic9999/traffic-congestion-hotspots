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22"/>
  </p:notesMasterIdLst>
  <p:sldIdLst>
    <p:sldId id="283" r:id="rId2"/>
    <p:sldId id="257" r:id="rId3"/>
    <p:sldId id="282" r:id="rId4"/>
    <p:sldId id="259" r:id="rId5"/>
    <p:sldId id="287" r:id="rId6"/>
    <p:sldId id="288" r:id="rId7"/>
    <p:sldId id="278" r:id="rId8"/>
    <p:sldId id="273" r:id="rId9"/>
    <p:sldId id="262" r:id="rId10"/>
    <p:sldId id="281" r:id="rId11"/>
    <p:sldId id="279" r:id="rId12"/>
    <p:sldId id="284" r:id="rId13"/>
    <p:sldId id="285" r:id="rId14"/>
    <p:sldId id="286" r:id="rId15"/>
    <p:sldId id="290" r:id="rId16"/>
    <p:sldId id="291" r:id="rId17"/>
    <p:sldId id="280" r:id="rId18"/>
    <p:sldId id="277" r:id="rId19"/>
    <p:sldId id="289" r:id="rId20"/>
    <p:sldId id="276" r:id="rId21"/>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27" roundtripDataSignature="AMtx7mjt3491jQ7aCoyIz2WXeHKroE7tp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0AAD8F4D-43EB-41E5-8A38-28AB6DFB1B60}">
  <a:tblStyle styleId="{0AAD8F4D-43EB-41E5-8A38-28AB6DFB1B60}"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86"/>
  </p:normalViewPr>
  <p:slideViewPr>
    <p:cSldViewPr snapToGrid="0">
      <p:cViewPr varScale="1">
        <p:scale>
          <a:sx n="78" d="100"/>
          <a:sy n="78" d="100"/>
        </p:scale>
        <p:origin x="850"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32" Type="http://schemas.microsoft.com/office/2016/11/relationships/changesInfo" Target="changesInfos/changesInfo1.xml"/><Relationship Id="rId5" Type="http://schemas.openxmlformats.org/officeDocument/2006/relationships/slide" Target="slides/slide4.xml"/><Relationship Id="rId15" Type="http://schemas.openxmlformats.org/officeDocument/2006/relationships/slide" Target="slides/slide14.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 Id="rId27" Type="http://customschemas.google.com/relationships/presentationmetadata" Target="metadata"/><Relationship Id="rId30"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impana3725@outlook.com" userId="f3992943fccefe1f" providerId="LiveId" clId="{E03D2AAD-28A7-4172-BD88-152A3B78212F}"/>
    <pc:docChg chg="modSld">
      <pc:chgData name="impana3725@outlook.com" userId="f3992943fccefe1f" providerId="LiveId" clId="{E03D2AAD-28A7-4172-BD88-152A3B78212F}" dt="2026-02-01T12:04:45.421" v="1" actId="20577"/>
      <pc:docMkLst>
        <pc:docMk/>
      </pc:docMkLst>
      <pc:sldChg chg="modSp mod">
        <pc:chgData name="impana3725@outlook.com" userId="f3992943fccefe1f" providerId="LiveId" clId="{E03D2AAD-28A7-4172-BD88-152A3B78212F}" dt="2026-02-01T12:04:45.421" v="1" actId="20577"/>
        <pc:sldMkLst>
          <pc:docMk/>
          <pc:sldMk cId="2115484872" sldId="277"/>
        </pc:sldMkLst>
        <pc:spChg chg="mod">
          <ac:chgData name="impana3725@outlook.com" userId="f3992943fccefe1f" providerId="LiveId" clId="{E03D2AAD-28A7-4172-BD88-152A3B78212F}" dt="2026-02-01T12:04:45.421" v="1" actId="20577"/>
          <ac:spMkLst>
            <pc:docMk/>
            <pc:sldMk cId="2115484872" sldId="277"/>
            <ac:spMk id="279" creationId="{15507A2F-9304-7475-5C74-2BAA93879CFE}"/>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IN"/>
          </a:p>
        </p:txBody>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
        <p:cNvGrpSpPr/>
        <p:nvPr/>
      </p:nvGrpSpPr>
      <p:grpSpPr>
        <a:xfrm>
          <a:off x="0" y="0"/>
          <a:ext cx="0" cy="0"/>
          <a:chOff x="0" y="0"/>
          <a:chExt cx="0" cy="0"/>
        </a:xfrm>
      </p:grpSpPr>
      <p:sp>
        <p:nvSpPr>
          <p:cNvPr id="88" name="Google Shape;88;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89" name="Google Shape;89;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48C2B95B-FB15-C156-6AF1-35B35818164E}"/>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id="{770A13E9-BC77-63DA-E106-A3FA8022811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3:notes">
            <a:extLst>
              <a:ext uri="{FF2B5EF4-FFF2-40B4-BE49-F238E27FC236}">
                <a16:creationId xmlns:a16="http://schemas.microsoft.com/office/drawing/2014/main" id="{29067B0F-2F4F-7081-A661-0AE31BFBB78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extLst>
      <p:ext uri="{BB962C8B-B14F-4D97-AF65-F5344CB8AC3E}">
        <p14:creationId xmlns:p14="http://schemas.microsoft.com/office/powerpoint/2010/main" val="260554109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9"/>
        <p:cNvGrpSpPr/>
        <p:nvPr/>
      </p:nvGrpSpPr>
      <p:grpSpPr>
        <a:xfrm>
          <a:off x="0" y="0"/>
          <a:ext cx="0" cy="0"/>
          <a:chOff x="0" y="0"/>
          <a:chExt cx="0" cy="0"/>
        </a:xfrm>
      </p:grpSpPr>
      <p:sp>
        <p:nvSpPr>
          <p:cNvPr id="110" name="Google Shape;110;p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1" name="Google Shape;111;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9">
          <a:extLst>
            <a:ext uri="{FF2B5EF4-FFF2-40B4-BE49-F238E27FC236}">
              <a16:creationId xmlns:a16="http://schemas.microsoft.com/office/drawing/2014/main" id="{7EF10545-1A46-607A-9459-61E8362FA69E}"/>
            </a:ext>
          </a:extLst>
        </p:cNvPr>
        <p:cNvGrpSpPr/>
        <p:nvPr/>
      </p:nvGrpSpPr>
      <p:grpSpPr>
        <a:xfrm>
          <a:off x="0" y="0"/>
          <a:ext cx="0" cy="0"/>
          <a:chOff x="0" y="0"/>
          <a:chExt cx="0" cy="0"/>
        </a:xfrm>
      </p:grpSpPr>
      <p:sp>
        <p:nvSpPr>
          <p:cNvPr id="110" name="Google Shape;110;p4:notes">
            <a:extLst>
              <a:ext uri="{FF2B5EF4-FFF2-40B4-BE49-F238E27FC236}">
                <a16:creationId xmlns:a16="http://schemas.microsoft.com/office/drawing/2014/main" id="{5957A8EB-ADFD-B035-BD54-1E8A3CB366A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1" name="Google Shape;111;p4:notes">
            <a:extLst>
              <a:ext uri="{FF2B5EF4-FFF2-40B4-BE49-F238E27FC236}">
                <a16:creationId xmlns:a16="http://schemas.microsoft.com/office/drawing/2014/main" id="{A20716EB-D155-31F5-DA5A-E1CD60F5E9F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extLst>
      <p:ext uri="{BB962C8B-B14F-4D97-AF65-F5344CB8AC3E}">
        <p14:creationId xmlns:p14="http://schemas.microsoft.com/office/powerpoint/2010/main" val="193553862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9">
          <a:extLst>
            <a:ext uri="{FF2B5EF4-FFF2-40B4-BE49-F238E27FC236}">
              <a16:creationId xmlns:a16="http://schemas.microsoft.com/office/drawing/2014/main" id="{F166C2B5-4668-A97F-2B37-43C42F227237}"/>
            </a:ext>
          </a:extLst>
        </p:cNvPr>
        <p:cNvGrpSpPr/>
        <p:nvPr/>
      </p:nvGrpSpPr>
      <p:grpSpPr>
        <a:xfrm>
          <a:off x="0" y="0"/>
          <a:ext cx="0" cy="0"/>
          <a:chOff x="0" y="0"/>
          <a:chExt cx="0" cy="0"/>
        </a:xfrm>
      </p:grpSpPr>
      <p:sp>
        <p:nvSpPr>
          <p:cNvPr id="110" name="Google Shape;110;p4:notes">
            <a:extLst>
              <a:ext uri="{FF2B5EF4-FFF2-40B4-BE49-F238E27FC236}">
                <a16:creationId xmlns:a16="http://schemas.microsoft.com/office/drawing/2014/main" id="{1DCE13D3-CED5-0A42-C57E-C51AFD2A625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1" name="Google Shape;111;p4:notes">
            <a:extLst>
              <a:ext uri="{FF2B5EF4-FFF2-40B4-BE49-F238E27FC236}">
                <a16:creationId xmlns:a16="http://schemas.microsoft.com/office/drawing/2014/main" id="{A05A17E4-5523-52B1-27CC-3C348561855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extLst>
      <p:ext uri="{BB962C8B-B14F-4D97-AF65-F5344CB8AC3E}">
        <p14:creationId xmlns:p14="http://schemas.microsoft.com/office/powerpoint/2010/main" val="156440456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a:extLst>
            <a:ext uri="{FF2B5EF4-FFF2-40B4-BE49-F238E27FC236}">
              <a16:creationId xmlns:a16="http://schemas.microsoft.com/office/drawing/2014/main" id="{11626E4B-E119-2382-6F8F-518641144E90}"/>
            </a:ext>
          </a:extLst>
        </p:cNvPr>
        <p:cNvGrpSpPr/>
        <p:nvPr/>
      </p:nvGrpSpPr>
      <p:grpSpPr>
        <a:xfrm>
          <a:off x="0" y="0"/>
          <a:ext cx="0" cy="0"/>
          <a:chOff x="0" y="0"/>
          <a:chExt cx="0" cy="0"/>
        </a:xfrm>
      </p:grpSpPr>
      <p:sp>
        <p:nvSpPr>
          <p:cNvPr id="198" name="Google Shape;198;p10:notes">
            <a:extLst>
              <a:ext uri="{FF2B5EF4-FFF2-40B4-BE49-F238E27FC236}">
                <a16:creationId xmlns:a16="http://schemas.microsoft.com/office/drawing/2014/main" id="{01A6FF9F-971F-6CD8-61F5-25638A5985F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9" name="Google Shape;199;p10:notes">
            <a:extLst>
              <a:ext uri="{FF2B5EF4-FFF2-40B4-BE49-F238E27FC236}">
                <a16:creationId xmlns:a16="http://schemas.microsoft.com/office/drawing/2014/main" id="{C8EB5C80-6A4B-AE05-9BE0-03B5AF5C22A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extLst>
      <p:ext uri="{BB962C8B-B14F-4D97-AF65-F5344CB8AC3E}">
        <p14:creationId xmlns:p14="http://schemas.microsoft.com/office/powerpoint/2010/main" val="168273657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p:cNvGrpSpPr/>
        <p:nvPr/>
      </p:nvGrpSpPr>
      <p:grpSpPr>
        <a:xfrm>
          <a:off x="0" y="0"/>
          <a:ext cx="0" cy="0"/>
          <a:chOff x="0" y="0"/>
          <a:chExt cx="0" cy="0"/>
        </a:xfrm>
      </p:grpSpPr>
      <p:sp>
        <p:nvSpPr>
          <p:cNvPr id="272" name="Google Shape;272;p1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p:cNvGrpSpPr/>
        <p:nvPr/>
      </p:nvGrpSpPr>
      <p:grpSpPr>
        <a:xfrm>
          <a:off x="0" y="0"/>
          <a:ext cx="0" cy="0"/>
          <a:chOff x="0" y="0"/>
          <a:chExt cx="0" cy="0"/>
        </a:xfrm>
      </p:grpSpPr>
      <p:sp>
        <p:nvSpPr>
          <p:cNvPr id="171" name="Google Shape;171;p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
          <a:extLst>
            <a:ext uri="{FF2B5EF4-FFF2-40B4-BE49-F238E27FC236}">
              <a16:creationId xmlns:a16="http://schemas.microsoft.com/office/drawing/2014/main" id="{59B870D7-ED5B-C7CD-FB99-2991954CAA65}"/>
            </a:ext>
          </a:extLst>
        </p:cNvPr>
        <p:cNvGrpSpPr/>
        <p:nvPr/>
      </p:nvGrpSpPr>
      <p:grpSpPr>
        <a:xfrm>
          <a:off x="0" y="0"/>
          <a:ext cx="0" cy="0"/>
          <a:chOff x="0" y="0"/>
          <a:chExt cx="0" cy="0"/>
        </a:xfrm>
      </p:grpSpPr>
      <p:sp>
        <p:nvSpPr>
          <p:cNvPr id="129" name="Google Shape;129;p5:notes">
            <a:extLst>
              <a:ext uri="{FF2B5EF4-FFF2-40B4-BE49-F238E27FC236}">
                <a16:creationId xmlns:a16="http://schemas.microsoft.com/office/drawing/2014/main" id="{C8B270BB-F67C-52E3-249C-6FE0C237CA9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0" name="Google Shape;130;p5:notes">
            <a:extLst>
              <a:ext uri="{FF2B5EF4-FFF2-40B4-BE49-F238E27FC236}">
                <a16:creationId xmlns:a16="http://schemas.microsoft.com/office/drawing/2014/main" id="{151B863E-6240-36E9-EB23-2DAA667D251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extLst>
      <p:ext uri="{BB962C8B-B14F-4D97-AF65-F5344CB8AC3E}">
        <p14:creationId xmlns:p14="http://schemas.microsoft.com/office/powerpoint/2010/main" val="407985781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a:extLst>
            <a:ext uri="{FF2B5EF4-FFF2-40B4-BE49-F238E27FC236}">
              <a16:creationId xmlns:a16="http://schemas.microsoft.com/office/drawing/2014/main" id="{279463AA-D7FA-5F7E-C4D0-06BDEDCBB932}"/>
            </a:ext>
          </a:extLst>
        </p:cNvPr>
        <p:cNvGrpSpPr/>
        <p:nvPr/>
      </p:nvGrpSpPr>
      <p:grpSpPr>
        <a:xfrm>
          <a:off x="0" y="0"/>
          <a:ext cx="0" cy="0"/>
          <a:chOff x="0" y="0"/>
          <a:chExt cx="0" cy="0"/>
        </a:xfrm>
      </p:grpSpPr>
      <p:sp>
        <p:nvSpPr>
          <p:cNvPr id="171" name="Google Shape;171;p7:notes">
            <a:extLst>
              <a:ext uri="{FF2B5EF4-FFF2-40B4-BE49-F238E27FC236}">
                <a16:creationId xmlns:a16="http://schemas.microsoft.com/office/drawing/2014/main" id="{A84E3171-2C5C-8738-5718-5608CE1B13A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7:notes">
            <a:extLst>
              <a:ext uri="{FF2B5EF4-FFF2-40B4-BE49-F238E27FC236}">
                <a16:creationId xmlns:a16="http://schemas.microsoft.com/office/drawing/2014/main" id="{E16E406D-2512-5EF2-0167-6C895346954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extLst>
      <p:ext uri="{BB962C8B-B14F-4D97-AF65-F5344CB8AC3E}">
        <p14:creationId xmlns:p14="http://schemas.microsoft.com/office/powerpoint/2010/main" val="343496662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a:extLst>
            <a:ext uri="{FF2B5EF4-FFF2-40B4-BE49-F238E27FC236}">
              <a16:creationId xmlns:a16="http://schemas.microsoft.com/office/drawing/2014/main" id="{133DCD37-0C3F-12BB-708C-15A0BFB72AB6}"/>
            </a:ext>
          </a:extLst>
        </p:cNvPr>
        <p:cNvGrpSpPr/>
        <p:nvPr/>
      </p:nvGrpSpPr>
      <p:grpSpPr>
        <a:xfrm>
          <a:off x="0" y="0"/>
          <a:ext cx="0" cy="0"/>
          <a:chOff x="0" y="0"/>
          <a:chExt cx="0" cy="0"/>
        </a:xfrm>
      </p:grpSpPr>
      <p:sp>
        <p:nvSpPr>
          <p:cNvPr id="171" name="Google Shape;171;p7:notes">
            <a:extLst>
              <a:ext uri="{FF2B5EF4-FFF2-40B4-BE49-F238E27FC236}">
                <a16:creationId xmlns:a16="http://schemas.microsoft.com/office/drawing/2014/main" id="{B3D30803-6188-6E87-DDB6-6562A9E17918}"/>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7:notes">
            <a:extLst>
              <a:ext uri="{FF2B5EF4-FFF2-40B4-BE49-F238E27FC236}">
                <a16:creationId xmlns:a16="http://schemas.microsoft.com/office/drawing/2014/main" id="{EDC8AB23-C1B1-CB09-E0BB-C9AAC48979C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extLst>
      <p:ext uri="{BB962C8B-B14F-4D97-AF65-F5344CB8AC3E}">
        <p14:creationId xmlns:p14="http://schemas.microsoft.com/office/powerpoint/2010/main" val="332522470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a:extLst>
            <a:ext uri="{FF2B5EF4-FFF2-40B4-BE49-F238E27FC236}">
              <a16:creationId xmlns:a16="http://schemas.microsoft.com/office/drawing/2014/main" id="{A63A9C66-2952-903D-83F1-D9F7981B25E5}"/>
            </a:ext>
          </a:extLst>
        </p:cNvPr>
        <p:cNvGrpSpPr/>
        <p:nvPr/>
      </p:nvGrpSpPr>
      <p:grpSpPr>
        <a:xfrm>
          <a:off x="0" y="0"/>
          <a:ext cx="0" cy="0"/>
          <a:chOff x="0" y="0"/>
          <a:chExt cx="0" cy="0"/>
        </a:xfrm>
      </p:grpSpPr>
      <p:sp>
        <p:nvSpPr>
          <p:cNvPr id="171" name="Google Shape;171;p7:notes">
            <a:extLst>
              <a:ext uri="{FF2B5EF4-FFF2-40B4-BE49-F238E27FC236}">
                <a16:creationId xmlns:a16="http://schemas.microsoft.com/office/drawing/2014/main" id="{DC0C7460-0316-B69D-13B6-FF07EC57B30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7:notes">
            <a:extLst>
              <a:ext uri="{FF2B5EF4-FFF2-40B4-BE49-F238E27FC236}">
                <a16:creationId xmlns:a16="http://schemas.microsoft.com/office/drawing/2014/main" id="{0173EAB6-F44B-63ED-F869-2979BED7C5DB}"/>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extLst>
      <p:ext uri="{BB962C8B-B14F-4D97-AF65-F5344CB8AC3E}">
        <p14:creationId xmlns:p14="http://schemas.microsoft.com/office/powerpoint/2010/main" val="237131364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a:extLst>
            <a:ext uri="{FF2B5EF4-FFF2-40B4-BE49-F238E27FC236}">
              <a16:creationId xmlns:a16="http://schemas.microsoft.com/office/drawing/2014/main" id="{6D9BD954-16FD-FB57-C6A4-EB5D3F15F6B4}"/>
            </a:ext>
          </a:extLst>
        </p:cNvPr>
        <p:cNvGrpSpPr/>
        <p:nvPr/>
      </p:nvGrpSpPr>
      <p:grpSpPr>
        <a:xfrm>
          <a:off x="0" y="0"/>
          <a:ext cx="0" cy="0"/>
          <a:chOff x="0" y="0"/>
          <a:chExt cx="0" cy="0"/>
        </a:xfrm>
      </p:grpSpPr>
      <p:sp>
        <p:nvSpPr>
          <p:cNvPr id="171" name="Google Shape;171;p7:notes">
            <a:extLst>
              <a:ext uri="{FF2B5EF4-FFF2-40B4-BE49-F238E27FC236}">
                <a16:creationId xmlns:a16="http://schemas.microsoft.com/office/drawing/2014/main" id="{0F3489E1-7724-611B-4E81-BEA0792A2AD5}"/>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7:notes">
            <a:extLst>
              <a:ext uri="{FF2B5EF4-FFF2-40B4-BE49-F238E27FC236}">
                <a16:creationId xmlns:a16="http://schemas.microsoft.com/office/drawing/2014/main" id="{D0D8B4C3-8B92-E26F-E1AC-2161B8338F1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extLst>
      <p:ext uri="{BB962C8B-B14F-4D97-AF65-F5344CB8AC3E}">
        <p14:creationId xmlns:p14="http://schemas.microsoft.com/office/powerpoint/2010/main" val="201308055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466C47D1-19F6-52AF-3914-DD3C99058916}"/>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ACA1F779-4C2B-4CD1-FBDD-A40F0A32234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40004D30-6E86-E263-D5DA-7577B1C759B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extLst>
      <p:ext uri="{BB962C8B-B14F-4D97-AF65-F5344CB8AC3E}">
        <p14:creationId xmlns:p14="http://schemas.microsoft.com/office/powerpoint/2010/main" val="162216939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FB18EFA4-CD13-16C4-504B-6DB7E86CE039}"/>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E8E16183-6BFA-E60A-1235-F3BFB1B1F6E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C4420B06-3455-3F20-5E28-90535F24DA2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extLst>
      <p:ext uri="{BB962C8B-B14F-4D97-AF65-F5344CB8AC3E}">
        <p14:creationId xmlns:p14="http://schemas.microsoft.com/office/powerpoint/2010/main" val="196517532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35F81AA1-D470-94B2-DBAC-B3997B8AE727}"/>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BF3C5CFF-BD30-3A5C-BD37-8285A5CF242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D3D9FE95-01C0-4EF5-0973-1DCBDDB3C7B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extLst>
      <p:ext uri="{BB962C8B-B14F-4D97-AF65-F5344CB8AC3E}">
        <p14:creationId xmlns:p14="http://schemas.microsoft.com/office/powerpoint/2010/main" val="134250960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3"/>
        <p:cNvGrpSpPr/>
        <p:nvPr/>
      </p:nvGrpSpPr>
      <p:grpSpPr>
        <a:xfrm>
          <a:off x="0" y="0"/>
          <a:ext cx="0" cy="0"/>
          <a:chOff x="0" y="0"/>
          <a:chExt cx="0" cy="0"/>
        </a:xfrm>
      </p:grpSpPr>
      <p:sp>
        <p:nvSpPr>
          <p:cNvPr id="304" name="Google Shape;304;p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05" name="Google Shape;305;p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7"/>
        <p:cNvGrpSpPr/>
        <p:nvPr/>
      </p:nvGrpSpPr>
      <p:grpSpPr>
        <a:xfrm>
          <a:off x="0" y="0"/>
          <a:ext cx="0" cy="0"/>
          <a:chOff x="0" y="0"/>
          <a:chExt cx="0" cy="0"/>
        </a:xfrm>
      </p:grpSpPr>
      <p:sp>
        <p:nvSpPr>
          <p:cNvPr id="18" name="Google Shape;18;p2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9" name="Google Shape;19;p23"/>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0" name="Google Shape;20;p2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1" name="Google Shape;21;p2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 name="Google Shape;22;p2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3"/>
        <p:cNvGrpSpPr/>
        <p:nvPr/>
      </p:nvGrpSpPr>
      <p:grpSpPr>
        <a:xfrm>
          <a:off x="0" y="0"/>
          <a:ext cx="0" cy="0"/>
          <a:chOff x="0" y="0"/>
          <a:chExt cx="0" cy="0"/>
        </a:xfrm>
      </p:grpSpPr>
      <p:sp>
        <p:nvSpPr>
          <p:cNvPr id="24" name="Google Shape;24;p24"/>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5" name="Google Shape;25;p24"/>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26" name="Google Shape;26;p2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7" name="Google Shape;27;p2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8" name="Google Shape;28;p2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29"/>
        <p:cNvGrpSpPr/>
        <p:nvPr/>
      </p:nvGrpSpPr>
      <p:grpSpPr>
        <a:xfrm>
          <a:off x="0" y="0"/>
          <a:ext cx="0" cy="0"/>
          <a:chOff x="0" y="0"/>
          <a:chExt cx="0" cy="0"/>
        </a:xfrm>
      </p:grpSpPr>
      <p:sp>
        <p:nvSpPr>
          <p:cNvPr id="30" name="Google Shape;30;p2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1" name="Google Shape;31;p25"/>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2" name="Google Shape;32;p25"/>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3" name="Google Shape;33;p2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4" name="Google Shape;34;p2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5" name="Google Shape;35;p2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6"/>
        <p:cNvGrpSpPr/>
        <p:nvPr/>
      </p:nvGrpSpPr>
      <p:grpSpPr>
        <a:xfrm>
          <a:off x="0" y="0"/>
          <a:ext cx="0" cy="0"/>
          <a:chOff x="0" y="0"/>
          <a:chExt cx="0" cy="0"/>
        </a:xfrm>
      </p:grpSpPr>
      <p:sp>
        <p:nvSpPr>
          <p:cNvPr id="37" name="Google Shape;37;p26"/>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8" name="Google Shape;38;p26"/>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39" name="Google Shape;39;p26"/>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0" name="Google Shape;40;p26"/>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1" name="Google Shape;41;p26"/>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2" name="Google Shape;42;p2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3" name="Google Shape;43;p2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4" name="Google Shape;44;p2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5"/>
        <p:cNvGrpSpPr/>
        <p:nvPr/>
      </p:nvGrpSpPr>
      <p:grpSpPr>
        <a:xfrm>
          <a:off x="0" y="0"/>
          <a:ext cx="0" cy="0"/>
          <a:chOff x="0" y="0"/>
          <a:chExt cx="0" cy="0"/>
        </a:xfrm>
      </p:grpSpPr>
      <p:sp>
        <p:nvSpPr>
          <p:cNvPr id="46" name="Google Shape;46;p2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7" name="Google Shape;47;p2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2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9" name="Google Shape;49;p2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0"/>
        <p:cNvGrpSpPr/>
        <p:nvPr/>
      </p:nvGrpSpPr>
      <p:grpSpPr>
        <a:xfrm>
          <a:off x="0" y="0"/>
          <a:ext cx="0" cy="0"/>
          <a:chOff x="0" y="0"/>
          <a:chExt cx="0" cy="0"/>
        </a:xfrm>
      </p:grpSpPr>
      <p:sp>
        <p:nvSpPr>
          <p:cNvPr id="51" name="Google Shape;51;p2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2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2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4"/>
        <p:cNvGrpSpPr/>
        <p:nvPr/>
      </p:nvGrpSpPr>
      <p:grpSpPr>
        <a:xfrm>
          <a:off x="0" y="0"/>
          <a:ext cx="0" cy="0"/>
          <a:chOff x="0" y="0"/>
          <a:chExt cx="0" cy="0"/>
        </a:xfrm>
      </p:grpSpPr>
      <p:sp>
        <p:nvSpPr>
          <p:cNvPr id="55" name="Google Shape;55;p29"/>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6" name="Google Shape;56;p29"/>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57" name="Google Shape;57;p29"/>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58" name="Google Shape;58;p2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2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2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1"/>
        <p:cNvGrpSpPr/>
        <p:nvPr/>
      </p:nvGrpSpPr>
      <p:grpSpPr>
        <a:xfrm>
          <a:off x="0" y="0"/>
          <a:ext cx="0" cy="0"/>
          <a:chOff x="0" y="0"/>
          <a:chExt cx="0" cy="0"/>
        </a:xfrm>
      </p:grpSpPr>
      <p:sp>
        <p:nvSpPr>
          <p:cNvPr id="62" name="Google Shape;62;p30"/>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3" name="Google Shape;63;p30"/>
          <p:cNvSpPr>
            <a:spLocks noGrp="1"/>
          </p:cNvSpPr>
          <p:nvPr>
            <p:ph type="pic" idx="2"/>
          </p:nvPr>
        </p:nvSpPr>
        <p:spPr>
          <a:xfrm>
            <a:off x="5183188" y="987425"/>
            <a:ext cx="6172200" cy="4873625"/>
          </a:xfrm>
          <a:prstGeom prst="rect">
            <a:avLst/>
          </a:prstGeom>
          <a:noFill/>
          <a:ln>
            <a:noFill/>
          </a:ln>
        </p:spPr>
        <p:txBody>
          <a:bodyPr/>
          <a:lstStyle/>
          <a:p>
            <a:endParaRPr lang="en-IN"/>
          </a:p>
        </p:txBody>
      </p:sp>
      <p:sp>
        <p:nvSpPr>
          <p:cNvPr id="64" name="Google Shape;64;p30"/>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5" name="Google Shape;65;p3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3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3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8"/>
        <p:cNvGrpSpPr/>
        <p:nvPr/>
      </p:nvGrpSpPr>
      <p:grpSpPr>
        <a:xfrm>
          <a:off x="0" y="0"/>
          <a:ext cx="0" cy="0"/>
          <a:chOff x="0" y="0"/>
          <a:chExt cx="0" cy="0"/>
        </a:xfrm>
      </p:grpSpPr>
      <p:sp>
        <p:nvSpPr>
          <p:cNvPr id="69" name="Google Shape;69;p3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0" name="Google Shape;70;p31"/>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1" name="Google Shape;71;p3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3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3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4"/>
        <p:cNvGrpSpPr/>
        <p:nvPr/>
      </p:nvGrpSpPr>
      <p:grpSpPr>
        <a:xfrm>
          <a:off x="0" y="0"/>
          <a:ext cx="0" cy="0"/>
          <a:chOff x="0" y="0"/>
          <a:chExt cx="0" cy="0"/>
        </a:xfrm>
      </p:grpSpPr>
      <p:sp>
        <p:nvSpPr>
          <p:cNvPr id="75" name="Google Shape;75;p32"/>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6" name="Google Shape;76;p32"/>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7" name="Google Shape;77;p3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3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3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2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21"/>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8" name="Google Shape;8;p2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2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2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50" r:id="rId1"/>
    <p:sldLayoutId id="2147483651" r:id="rId2"/>
    <p:sldLayoutId id="2147483652" r:id="rId3"/>
    <p:sldLayoutId id="2147483653" r:id="rId4"/>
    <p:sldLayoutId id="2147483654" r:id="rId5"/>
    <p:sldLayoutId id="2147483655" r:id="rId6"/>
    <p:sldLayoutId id="2147483656" r:id="rId7"/>
    <p:sldLayoutId id="2147483657" r:id="rId8"/>
    <p:sldLayoutId id="2147483658" r:id="rId9"/>
    <p:sldLayoutId id="2147483659"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4.jpeg"/><Relationship Id="rId5" Type="http://schemas.openxmlformats.org/officeDocument/2006/relationships/image" Target="../media/image3.jpeg"/><Relationship Id="rId4" Type="http://schemas.openxmlformats.org/officeDocument/2006/relationships/image" Target="../media/image2.jpeg"/></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openxmlformats.org/officeDocument/2006/relationships/image" Target="../media/image5.jpeg"/></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1.xml"/><Relationship Id="rId4" Type="http://schemas.openxmlformats.org/officeDocument/2006/relationships/image" Target="../media/image6.jpeg"/></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1.xml"/><Relationship Id="rId4" Type="http://schemas.openxmlformats.org/officeDocument/2006/relationships/image" Target="../media/image7.jpeg"/></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1.xml"/><Relationship Id="rId4" Type="http://schemas.openxmlformats.org/officeDocument/2006/relationships/image" Target="../media/image8.jpeg"/></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xml"/><Relationship Id="rId1" Type="http://schemas.openxmlformats.org/officeDocument/2006/relationships/slideLayout" Target="../slideLayouts/slideLayout1.xml"/><Relationship Id="rId4" Type="http://schemas.openxmlformats.org/officeDocument/2006/relationships/image" Target="../media/image9.jpeg"/></Relationships>
</file>

<file path=ppt/slides/_rels/slide15.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image" Target="../media/image1.png"/><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image" Target="../media/image1.png"/><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7.xml"/><Relationship Id="rId1" Type="http://schemas.openxmlformats.org/officeDocument/2006/relationships/slideLayout" Target="../slideLayouts/slideLayout1.xml"/><Relationship Id="rId4"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F97BF8-B3EC-77A2-9BFD-D66830272D56}"/>
              </a:ext>
            </a:extLst>
          </p:cNvPr>
          <p:cNvSpPr>
            <a:spLocks noGrp="1"/>
          </p:cNvSpPr>
          <p:nvPr>
            <p:ph type="title"/>
          </p:nvPr>
        </p:nvSpPr>
        <p:spPr>
          <a:xfrm>
            <a:off x="831850" y="581583"/>
            <a:ext cx="10515600" cy="2852737"/>
          </a:xfrm>
        </p:spPr>
        <p:txBody>
          <a:bodyPr>
            <a:normAutofit/>
          </a:bodyPr>
          <a:lstStyle/>
          <a:p>
            <a:pPr algn="ctr"/>
            <a:r>
              <a:rPr lang="en-US" dirty="0">
                <a:latin typeface="Times New Roman" panose="02020603050405020304" pitchFamily="18" charset="0"/>
                <a:cs typeface="Times New Roman" panose="02020603050405020304" pitchFamily="18" charset="0"/>
              </a:rPr>
              <a:t>Agentic AI Hackathon: Building Intelligent Agents with IBM Granite and </a:t>
            </a:r>
            <a:r>
              <a:rPr lang="en-US" dirty="0" err="1">
                <a:latin typeface="Times New Roman" panose="02020603050405020304" pitchFamily="18" charset="0"/>
                <a:cs typeface="Times New Roman" panose="02020603050405020304" pitchFamily="18" charset="0"/>
              </a:rPr>
              <a:t>LangFlow</a:t>
            </a:r>
            <a:endParaRPr lang="en-US" dirty="0">
              <a:latin typeface="Times New Roman" panose="02020603050405020304" pitchFamily="18" charset="0"/>
              <a:cs typeface="Times New Roman" panose="02020603050405020304" pitchFamily="18" charset="0"/>
            </a:endParaRPr>
          </a:p>
        </p:txBody>
      </p:sp>
      <p:sp>
        <p:nvSpPr>
          <p:cNvPr id="3" name="Text Placeholder 2">
            <a:extLst>
              <a:ext uri="{FF2B5EF4-FFF2-40B4-BE49-F238E27FC236}">
                <a16:creationId xmlns:a16="http://schemas.microsoft.com/office/drawing/2014/main" id="{FFAB85A1-2169-FF43-3E91-E2E8ADA742FF}"/>
              </a:ext>
            </a:extLst>
          </p:cNvPr>
          <p:cNvSpPr>
            <a:spLocks noGrp="1"/>
          </p:cNvSpPr>
          <p:nvPr>
            <p:ph type="body" idx="1"/>
          </p:nvPr>
        </p:nvSpPr>
        <p:spPr>
          <a:xfrm>
            <a:off x="831850" y="3903663"/>
            <a:ext cx="10515600" cy="1500187"/>
          </a:xfrm>
        </p:spPr>
        <p:txBody>
          <a:bodyPr>
            <a:normAutofit/>
          </a:bodyPr>
          <a:lstStyle/>
          <a:p>
            <a:pPr algn="ctr"/>
            <a:r>
              <a:rPr lang="en-US" sz="2800" b="1" i="1" dirty="0">
                <a:solidFill>
                  <a:schemeClr val="tx1"/>
                </a:solidFill>
                <a:latin typeface="Times New Roman" panose="02020603050405020304" pitchFamily="18" charset="0"/>
                <a:cs typeface="Times New Roman" panose="02020603050405020304" pitchFamily="18" charset="0"/>
              </a:rPr>
              <a:t>Project Title: AI-Driven Traffic Congestion Early Warning System</a:t>
            </a:r>
          </a:p>
          <a:p>
            <a:pPr algn="ctr"/>
            <a:endParaRPr lang="en-US" sz="2800" b="1" i="1" dirty="0">
              <a:solidFill>
                <a:schemeClr val="tx1"/>
              </a:solidFill>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9270813B-BF9E-B61A-92D0-FA37C990652F}"/>
              </a:ext>
            </a:extLst>
          </p:cNvPr>
          <p:cNvPicPr>
            <a:picLocks noChangeAspect="1"/>
          </p:cNvPicPr>
          <p:nvPr/>
        </p:nvPicPr>
        <p:blipFill>
          <a:blip r:embed="rId2"/>
          <a:stretch>
            <a:fillRect/>
          </a:stretch>
        </p:blipFill>
        <p:spPr>
          <a:xfrm>
            <a:off x="335797" y="6321268"/>
            <a:ext cx="11520407" cy="310052"/>
          </a:xfrm>
          <a:prstGeom prst="rect">
            <a:avLst/>
          </a:prstGeom>
        </p:spPr>
      </p:pic>
    </p:spTree>
    <p:extLst>
      <p:ext uri="{BB962C8B-B14F-4D97-AF65-F5344CB8AC3E}">
        <p14:creationId xmlns:p14="http://schemas.microsoft.com/office/powerpoint/2010/main" val="95756464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0"/>
        <p:cNvGrpSpPr/>
        <p:nvPr/>
      </p:nvGrpSpPr>
      <p:grpSpPr>
        <a:xfrm>
          <a:off x="0" y="0"/>
          <a:ext cx="0" cy="0"/>
          <a:chOff x="0" y="0"/>
          <a:chExt cx="0" cy="0"/>
        </a:xfrm>
      </p:grpSpPr>
      <p:sp>
        <p:nvSpPr>
          <p:cNvPr id="92" name="Google Shape;92;p2"/>
          <p:cNvSpPr/>
          <p:nvPr/>
        </p:nvSpPr>
        <p:spPr>
          <a:xfrm>
            <a:off x="690624" y="4425370"/>
            <a:ext cx="10795794" cy="199230"/>
          </a:xfrm>
          <a:prstGeom prst="rect">
            <a:avLst/>
          </a:prstGeom>
          <a:noFill/>
          <a:ln>
            <a:noFill/>
          </a:ln>
        </p:spPr>
        <p:txBody>
          <a:bodyPr spcFirstLastPara="1" wrap="square" lIns="0" tIns="0" rIns="0" bIns="0" anchor="t" anchorCtr="0">
            <a:noAutofit/>
          </a:bodyPr>
          <a:lstStyle/>
          <a:p>
            <a:pPr marL="0" marR="0" lvl="0" indent="0" algn="l" rtl="0">
              <a:lnSpc>
                <a:spcPct val="160000"/>
              </a:lnSpc>
              <a:spcBef>
                <a:spcPts val="0"/>
              </a:spcBef>
              <a:spcAft>
                <a:spcPts val="0"/>
              </a:spcAft>
              <a:buClr>
                <a:schemeClr val="dk1"/>
              </a:buClr>
              <a:buSzPts val="1500"/>
              <a:buFont typeface="Calibri"/>
              <a:buNone/>
            </a:pPr>
            <a:endParaRPr sz="1500" b="0" i="0" u="none" strike="noStrike" cap="none">
              <a:solidFill>
                <a:schemeClr val="dk1"/>
              </a:solidFill>
              <a:latin typeface="Times New Roman"/>
              <a:ea typeface="Times New Roman"/>
              <a:cs typeface="Times New Roman"/>
              <a:sym typeface="Times New Roman"/>
            </a:endParaRPr>
          </a:p>
        </p:txBody>
      </p:sp>
      <p:sp>
        <p:nvSpPr>
          <p:cNvPr id="94" name="Google Shape;94;p2"/>
          <p:cNvSpPr txBox="1"/>
          <p:nvPr/>
        </p:nvSpPr>
        <p:spPr>
          <a:xfrm>
            <a:off x="2499196" y="1112638"/>
            <a:ext cx="7301728" cy="271306"/>
          </a:xfrm>
          <a:prstGeom prst="rect">
            <a:avLst/>
          </a:prstGeom>
          <a:noFill/>
          <a:ln>
            <a:noFill/>
          </a:ln>
        </p:spPr>
        <p:txBody>
          <a:bodyPr spcFirstLastPara="1" wrap="square" lIns="91425" tIns="45700" rIns="91425" bIns="45700" anchor="ctr" anchorCtr="0">
            <a:noAutofit/>
          </a:bodyPr>
          <a:lstStyle/>
          <a:p>
            <a:pPr lvl="0" algn="ctr">
              <a:lnSpc>
                <a:spcPct val="90000"/>
              </a:lnSpc>
              <a:buClr>
                <a:srgbClr val="002060"/>
              </a:buClr>
              <a:buSzPts val="3500"/>
            </a:pPr>
            <a:r>
              <a:rPr lang="en-US" sz="3500" b="1" i="0" u="none" strike="noStrike" cap="none" dirty="0">
                <a:solidFill>
                  <a:schemeClr val="tx1"/>
                </a:solidFill>
                <a:latin typeface="Times New Roman"/>
                <a:ea typeface="Times New Roman"/>
                <a:cs typeface="Times New Roman"/>
                <a:sym typeface="Times New Roman"/>
              </a:rPr>
              <a:t>Name of the team: </a:t>
            </a:r>
            <a:r>
              <a:rPr lang="en-US" sz="3600" b="1" i="1" dirty="0">
                <a:solidFill>
                  <a:schemeClr val="tx1"/>
                </a:solidFill>
                <a:latin typeface="Times New Roman" panose="02020603050405020304" pitchFamily="18" charset="0"/>
                <a:cs typeface="Times New Roman" panose="02020603050405020304" pitchFamily="18" charset="0"/>
              </a:rPr>
              <a:t>Technest</a:t>
            </a:r>
            <a:r>
              <a:rPr lang="en-US" sz="3500" b="1" i="0" u="none" strike="noStrike" cap="none" dirty="0">
                <a:solidFill>
                  <a:schemeClr val="tx1"/>
                </a:solidFill>
                <a:latin typeface="Times New Roman"/>
                <a:ea typeface="Times New Roman"/>
                <a:cs typeface="Times New Roman"/>
                <a:sym typeface="Times New Roman"/>
              </a:rPr>
              <a:t> </a:t>
            </a:r>
          </a:p>
          <a:p>
            <a:pPr algn="ctr">
              <a:lnSpc>
                <a:spcPct val="90000"/>
              </a:lnSpc>
              <a:buClr>
                <a:srgbClr val="002060"/>
              </a:buClr>
              <a:buSzPts val="3500"/>
            </a:pPr>
            <a:r>
              <a:rPr lang="en-US" sz="3600" b="1" dirty="0">
                <a:solidFill>
                  <a:schemeClr val="tx1"/>
                </a:solidFill>
                <a:latin typeface="Times New Roman"/>
                <a:ea typeface="Times New Roman"/>
                <a:cs typeface="Times New Roman"/>
                <a:sym typeface="Times New Roman"/>
              </a:rPr>
              <a:t>Details of Team members</a:t>
            </a:r>
          </a:p>
          <a:p>
            <a:pPr marL="0" marR="0" lvl="0" indent="0" algn="ctr" rtl="0">
              <a:lnSpc>
                <a:spcPct val="90000"/>
              </a:lnSpc>
              <a:spcBef>
                <a:spcPts val="0"/>
              </a:spcBef>
              <a:spcAft>
                <a:spcPts val="0"/>
              </a:spcAft>
              <a:buClr>
                <a:srgbClr val="002060"/>
              </a:buClr>
              <a:buSzPts val="3500"/>
              <a:buFont typeface="Times New Roman"/>
              <a:buNone/>
            </a:pPr>
            <a:r>
              <a:rPr lang="en-US" sz="3500" b="1" i="0" u="none" strike="noStrike" cap="none" dirty="0">
                <a:solidFill>
                  <a:schemeClr val="tx1"/>
                </a:solidFill>
                <a:latin typeface="Times New Roman"/>
                <a:ea typeface="Times New Roman"/>
                <a:cs typeface="Times New Roman"/>
                <a:sym typeface="Times New Roman"/>
              </a:rPr>
              <a:t> </a:t>
            </a:r>
            <a:endParaRPr dirty="0">
              <a:solidFill>
                <a:schemeClr val="tx1"/>
              </a:solidFill>
            </a:endParaRPr>
          </a:p>
        </p:txBody>
      </p:sp>
      <p:graphicFrame>
        <p:nvGraphicFramePr>
          <p:cNvPr id="96" name="Google Shape;96;p2"/>
          <p:cNvGraphicFramePr/>
          <p:nvPr>
            <p:extLst>
              <p:ext uri="{D42A27DB-BD31-4B8C-83A1-F6EECF244321}">
                <p14:modId xmlns:p14="http://schemas.microsoft.com/office/powerpoint/2010/main" val="3148712362"/>
              </p:ext>
            </p:extLst>
          </p:nvPr>
        </p:nvGraphicFramePr>
        <p:xfrm>
          <a:off x="690624" y="1593010"/>
          <a:ext cx="11098810" cy="4414499"/>
        </p:xfrm>
        <a:graphic>
          <a:graphicData uri="http://schemas.openxmlformats.org/drawingml/2006/table">
            <a:tbl>
              <a:tblPr>
                <a:noFill/>
                <a:tableStyleId>{0AAD8F4D-43EB-41E5-8A38-28AB6DFB1B60}</a:tableStyleId>
              </a:tblPr>
              <a:tblGrid>
                <a:gridCol w="2439340">
                  <a:extLst>
                    <a:ext uri="{9D8B030D-6E8A-4147-A177-3AD203B41FA5}">
                      <a16:colId xmlns:a16="http://schemas.microsoft.com/office/drawing/2014/main" val="20000"/>
                    </a:ext>
                  </a:extLst>
                </a:gridCol>
                <a:gridCol w="2886490">
                  <a:extLst>
                    <a:ext uri="{9D8B030D-6E8A-4147-A177-3AD203B41FA5}">
                      <a16:colId xmlns:a16="http://schemas.microsoft.com/office/drawing/2014/main" val="20002"/>
                    </a:ext>
                  </a:extLst>
                </a:gridCol>
                <a:gridCol w="2886490">
                  <a:extLst>
                    <a:ext uri="{9D8B030D-6E8A-4147-A177-3AD203B41FA5}">
                      <a16:colId xmlns:a16="http://schemas.microsoft.com/office/drawing/2014/main" val="20003"/>
                    </a:ext>
                  </a:extLst>
                </a:gridCol>
                <a:gridCol w="2886490">
                  <a:extLst>
                    <a:ext uri="{9D8B030D-6E8A-4147-A177-3AD203B41FA5}">
                      <a16:colId xmlns:a16="http://schemas.microsoft.com/office/drawing/2014/main" val="20004"/>
                    </a:ext>
                  </a:extLst>
                </a:gridCol>
              </a:tblGrid>
              <a:tr h="874475">
                <a:tc>
                  <a:txBody>
                    <a:bodyPr/>
                    <a:lstStyle/>
                    <a:p>
                      <a:pPr marL="0" marR="0" lvl="0" indent="0" algn="ctr" rtl="0">
                        <a:spcBef>
                          <a:spcPts val="0"/>
                        </a:spcBef>
                        <a:spcAft>
                          <a:spcPts val="0"/>
                        </a:spcAft>
                        <a:buNone/>
                      </a:pPr>
                      <a:r>
                        <a:rPr lang="en-US" sz="1800" u="none" strike="noStrike" cap="none" dirty="0">
                          <a:latin typeface="Times New Roman" panose="02020603050405020304" pitchFamily="18" charset="0"/>
                          <a:cs typeface="Times New Roman" panose="02020603050405020304" pitchFamily="18" charset="0"/>
                        </a:rPr>
                        <a:t>TEAM MEMBER NAME</a:t>
                      </a:r>
                      <a:endParaRPr sz="1800" u="none" strike="noStrike" cap="none" dirty="0">
                        <a:latin typeface="Times New Roman" panose="02020603050405020304" pitchFamily="18" charset="0"/>
                        <a:cs typeface="Times New Roman" panose="02020603050405020304" pitchFamily="18" charset="0"/>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spcBef>
                          <a:spcPts val="0"/>
                        </a:spcBef>
                        <a:spcAft>
                          <a:spcPts val="0"/>
                        </a:spcAft>
                        <a:buNone/>
                      </a:pPr>
                      <a:r>
                        <a:rPr lang="en-US" sz="1800" u="none" strike="noStrike" cap="none" dirty="0">
                          <a:latin typeface="Times New Roman" panose="02020603050405020304" pitchFamily="18" charset="0"/>
                          <a:cs typeface="Times New Roman" panose="02020603050405020304" pitchFamily="18" charset="0"/>
                        </a:rPr>
                        <a:t>Recent Passport Photo</a:t>
                      </a:r>
                      <a:endParaRPr sz="1800" u="none" strike="noStrike" cap="none" dirty="0">
                        <a:latin typeface="Times New Roman" panose="02020603050405020304" pitchFamily="18" charset="0"/>
                        <a:cs typeface="Times New Roman" panose="02020603050405020304" pitchFamily="18" charset="0"/>
                      </a:endParaRPr>
                    </a:p>
                  </a:txBody>
                  <a:tcPr marL="91450" marR="91450" marT="45725" marB="45725" anchor="ctr">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lgn="ctr">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chemeClr val="lt1"/>
                        </a:buClr>
                        <a:buSzPts val="1800"/>
                        <a:buFont typeface="Calibri"/>
                        <a:buNone/>
                      </a:pPr>
                      <a:r>
                        <a:rPr lang="en-US" sz="1800" b="1" u="none" strike="noStrike" cap="none">
                          <a:solidFill>
                            <a:schemeClr val="lt1"/>
                          </a:solidFill>
                          <a:latin typeface="Times New Roman" panose="02020603050405020304" pitchFamily="18" charset="0"/>
                          <a:ea typeface="Calibri"/>
                          <a:cs typeface="Times New Roman" panose="02020603050405020304" pitchFamily="18" charset="0"/>
                          <a:sym typeface="Calibri"/>
                        </a:rPr>
                        <a:t>Email ID </a:t>
                      </a:r>
                      <a:endParaRPr sz="1800" u="none" strike="noStrike" cap="none">
                        <a:latin typeface="Times New Roman" panose="02020603050405020304" pitchFamily="18" charset="0"/>
                        <a:cs typeface="Times New Roman" panose="02020603050405020304" pitchFamily="18" charset="0"/>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chemeClr val="lt1"/>
                        </a:buClr>
                        <a:buSzPts val="1800"/>
                        <a:buFont typeface="Calibri"/>
                        <a:buNone/>
                      </a:pPr>
                      <a:r>
                        <a:rPr lang="en-US" sz="1800" b="1" u="none" strike="noStrike" cap="none">
                          <a:solidFill>
                            <a:schemeClr val="lt1"/>
                          </a:solidFill>
                          <a:latin typeface="Times New Roman" panose="02020603050405020304" pitchFamily="18" charset="0"/>
                          <a:ea typeface="Calibri"/>
                          <a:cs typeface="Times New Roman" panose="02020603050405020304" pitchFamily="18" charset="0"/>
                          <a:sym typeface="Calibri"/>
                        </a:rPr>
                        <a:t>Phone number</a:t>
                      </a:r>
                      <a:endParaRPr sz="1800">
                        <a:latin typeface="Times New Roman" panose="02020603050405020304" pitchFamily="18" charset="0"/>
                        <a:cs typeface="Times New Roman" panose="02020603050405020304" pitchFamily="18" charset="0"/>
                      </a:endParaRPr>
                    </a:p>
                    <a:p>
                      <a:pPr marL="0" marR="0" lvl="0" indent="0" algn="ctr" rtl="0">
                        <a:lnSpc>
                          <a:spcPct val="100000"/>
                        </a:lnSpc>
                        <a:spcBef>
                          <a:spcPts val="0"/>
                        </a:spcBef>
                        <a:spcAft>
                          <a:spcPts val="0"/>
                        </a:spcAft>
                        <a:buClr>
                          <a:schemeClr val="lt1"/>
                        </a:buClr>
                        <a:buSzPts val="1800"/>
                        <a:buFont typeface="Calibri"/>
                        <a:buNone/>
                      </a:pPr>
                      <a:r>
                        <a:rPr lang="en-US" sz="1800" b="1" u="none" strike="noStrike" cap="none">
                          <a:solidFill>
                            <a:schemeClr val="lt1"/>
                          </a:solidFill>
                          <a:latin typeface="Times New Roman" panose="02020603050405020304" pitchFamily="18" charset="0"/>
                          <a:ea typeface="Calibri"/>
                          <a:cs typeface="Times New Roman" panose="02020603050405020304" pitchFamily="18" charset="0"/>
                          <a:sym typeface="Calibri"/>
                        </a:rPr>
                        <a:t>[WhatsApp] </a:t>
                      </a:r>
                      <a:endParaRPr sz="1800" u="none" strike="noStrike" cap="none">
                        <a:latin typeface="Times New Roman" panose="02020603050405020304" pitchFamily="18" charset="0"/>
                        <a:cs typeface="Times New Roman" panose="02020603050405020304" pitchFamily="18" charset="0"/>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extLst>
                  <a:ext uri="{0D108BD9-81ED-4DB2-BD59-A6C34878D82A}">
                    <a16:rowId xmlns:a16="http://schemas.microsoft.com/office/drawing/2014/main" val="10000"/>
                  </a:ext>
                </a:extLst>
              </a:tr>
              <a:tr h="1072738">
                <a:tc>
                  <a:txBody>
                    <a:bodyPr/>
                    <a:lstStyle/>
                    <a:p>
                      <a:pPr marL="0" marR="0" lvl="0" indent="0" algn="l" rtl="0">
                        <a:spcBef>
                          <a:spcPts val="0"/>
                        </a:spcBef>
                        <a:spcAft>
                          <a:spcPts val="0"/>
                        </a:spcAft>
                        <a:buNone/>
                      </a:pPr>
                      <a:r>
                        <a:rPr lang="en-IN" sz="1800" dirty="0">
                          <a:latin typeface="Times New Roman" panose="02020603050405020304" pitchFamily="18" charset="0"/>
                          <a:cs typeface="Times New Roman" panose="02020603050405020304" pitchFamily="18" charset="0"/>
                        </a:rPr>
                        <a:t>Jhanavi C</a:t>
                      </a:r>
                      <a:endParaRPr sz="1800" dirty="0">
                        <a:latin typeface="Times New Roman" panose="02020603050405020304" pitchFamily="18" charset="0"/>
                        <a:cs typeface="Times New Roman" panose="02020603050405020304" pitchFamily="18" charset="0"/>
                      </a:endParaRPr>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endParaRPr sz="1800" dirty="0">
                        <a:latin typeface="Times New Roman" panose="02020603050405020304" pitchFamily="18" charset="0"/>
                        <a:cs typeface="Times New Roman" panose="02020603050405020304" pitchFamily="18" charset="0"/>
                      </a:endParaRPr>
                    </a:p>
                  </a:txBody>
                  <a:tcPr marL="91450" marR="91450" marT="45725" marB="45725">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lgn="ctr">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r>
                        <a:rPr lang="en-IN" sz="1800" dirty="0">
                          <a:latin typeface="Times New Roman" panose="02020603050405020304" pitchFamily="18" charset="0"/>
                          <a:cs typeface="Times New Roman" panose="02020603050405020304" pitchFamily="18" charset="0"/>
                        </a:rPr>
                        <a:t>Jhanavic2005@gmail.com</a:t>
                      </a:r>
                      <a:endParaRPr sz="1800" dirty="0">
                        <a:latin typeface="Times New Roman" panose="02020603050405020304" pitchFamily="18" charset="0"/>
                        <a:cs typeface="Times New Roman" panose="02020603050405020304" pitchFamily="18" charset="0"/>
                      </a:endParaRPr>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r>
                        <a:rPr lang="en-IN" sz="1800" dirty="0">
                          <a:latin typeface="Times New Roman" panose="02020603050405020304" pitchFamily="18" charset="0"/>
                          <a:cs typeface="Times New Roman" panose="02020603050405020304" pitchFamily="18" charset="0"/>
                        </a:rPr>
                        <a:t>7676999663</a:t>
                      </a:r>
                      <a:endParaRPr sz="1800" dirty="0">
                        <a:latin typeface="Times New Roman" panose="02020603050405020304" pitchFamily="18" charset="0"/>
                        <a:cs typeface="Times New Roman" panose="02020603050405020304" pitchFamily="18" charset="0"/>
                      </a:endParaRPr>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extLst>
                  <a:ext uri="{0D108BD9-81ED-4DB2-BD59-A6C34878D82A}">
                    <a16:rowId xmlns:a16="http://schemas.microsoft.com/office/drawing/2014/main" val="10001"/>
                  </a:ext>
                </a:extLst>
              </a:tr>
              <a:tr h="1394548">
                <a:tc>
                  <a:txBody>
                    <a:bodyPr/>
                    <a:lstStyle/>
                    <a:p>
                      <a:pPr marL="0" marR="0" lvl="0" indent="0" algn="l" rtl="0">
                        <a:spcBef>
                          <a:spcPts val="0"/>
                        </a:spcBef>
                        <a:spcAft>
                          <a:spcPts val="0"/>
                        </a:spcAft>
                        <a:buNone/>
                      </a:pPr>
                      <a:r>
                        <a:rPr lang="en-IN" sz="1800" dirty="0">
                          <a:latin typeface="Times New Roman" panose="02020603050405020304" pitchFamily="18" charset="0"/>
                          <a:cs typeface="Times New Roman" panose="02020603050405020304" pitchFamily="18" charset="0"/>
                        </a:rPr>
                        <a:t>Impana.p</a:t>
                      </a:r>
                      <a:endParaRPr sz="1800" dirty="0">
                        <a:latin typeface="Times New Roman" panose="02020603050405020304" pitchFamily="18" charset="0"/>
                        <a:cs typeface="Times New Roman" panose="02020603050405020304" pitchFamily="18" charset="0"/>
                      </a:endParaRPr>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E9EFF7"/>
                    </a:solidFill>
                  </a:tcPr>
                </a:tc>
                <a:tc>
                  <a:txBody>
                    <a:bodyPr/>
                    <a:lstStyle/>
                    <a:p>
                      <a:pPr marL="0" marR="0" lvl="0" indent="0" algn="l" rtl="0">
                        <a:spcBef>
                          <a:spcPts val="0"/>
                        </a:spcBef>
                        <a:spcAft>
                          <a:spcPts val="0"/>
                        </a:spcAft>
                        <a:buNone/>
                      </a:pPr>
                      <a:endParaRPr sz="1800" dirty="0">
                        <a:latin typeface="Times New Roman" panose="02020603050405020304" pitchFamily="18" charset="0"/>
                        <a:cs typeface="Times New Roman" panose="02020603050405020304" pitchFamily="18" charset="0"/>
                      </a:endParaRPr>
                    </a:p>
                  </a:txBody>
                  <a:tcPr marL="91450" marR="91450" marT="45725" marB="45725">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lgn="ctr">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solidFill>
                      <a:srgbClr val="E9EFF7"/>
                    </a:solidFill>
                  </a:tcPr>
                </a:tc>
                <a:tc>
                  <a:txBody>
                    <a:bodyPr/>
                    <a:lstStyle/>
                    <a:p>
                      <a:pPr marL="0" marR="0" lvl="0" indent="0" algn="l" rtl="0">
                        <a:spcBef>
                          <a:spcPts val="0"/>
                        </a:spcBef>
                        <a:spcAft>
                          <a:spcPts val="0"/>
                        </a:spcAft>
                        <a:buNone/>
                      </a:pPr>
                      <a:r>
                        <a:rPr lang="en-IN" sz="1800" dirty="0">
                          <a:latin typeface="Times New Roman" panose="02020603050405020304" pitchFamily="18" charset="0"/>
                          <a:cs typeface="Times New Roman" panose="02020603050405020304" pitchFamily="18" charset="0"/>
                        </a:rPr>
                        <a:t>impanap04@gmail.com</a:t>
                      </a:r>
                      <a:endParaRPr sz="1800" dirty="0">
                        <a:latin typeface="Times New Roman" panose="02020603050405020304" pitchFamily="18" charset="0"/>
                        <a:cs typeface="Times New Roman" panose="02020603050405020304" pitchFamily="18" charset="0"/>
                      </a:endParaRPr>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E9EFF7"/>
                    </a:solidFill>
                  </a:tcPr>
                </a:tc>
                <a:tc>
                  <a:txBody>
                    <a:bodyPr/>
                    <a:lstStyle/>
                    <a:p>
                      <a:pPr marL="0" marR="0" lvl="0" indent="0" algn="l" rtl="0">
                        <a:spcBef>
                          <a:spcPts val="0"/>
                        </a:spcBef>
                        <a:spcAft>
                          <a:spcPts val="0"/>
                        </a:spcAft>
                        <a:buNone/>
                      </a:pPr>
                      <a:r>
                        <a:rPr lang="en-IN" sz="1800" dirty="0">
                          <a:latin typeface="Times New Roman" panose="02020603050405020304" pitchFamily="18" charset="0"/>
                          <a:cs typeface="Times New Roman" panose="02020603050405020304" pitchFamily="18" charset="0"/>
                        </a:rPr>
                        <a:t>9110208155</a:t>
                      </a:r>
                      <a:endParaRPr sz="1800" dirty="0">
                        <a:latin typeface="Times New Roman" panose="02020603050405020304" pitchFamily="18" charset="0"/>
                        <a:cs typeface="Times New Roman" panose="02020603050405020304" pitchFamily="18" charset="0"/>
                      </a:endParaRPr>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E9EFF7"/>
                    </a:solidFill>
                  </a:tcPr>
                </a:tc>
                <a:extLst>
                  <a:ext uri="{0D108BD9-81ED-4DB2-BD59-A6C34878D82A}">
                    <a16:rowId xmlns:a16="http://schemas.microsoft.com/office/drawing/2014/main" val="10002"/>
                  </a:ext>
                </a:extLst>
              </a:tr>
              <a:tr h="1072738">
                <a:tc>
                  <a:txBody>
                    <a:bodyPr/>
                    <a:lstStyle/>
                    <a:p>
                      <a:pPr marL="0" marR="0" lvl="0" indent="0" algn="l" rtl="0">
                        <a:spcBef>
                          <a:spcPts val="0"/>
                        </a:spcBef>
                        <a:spcAft>
                          <a:spcPts val="0"/>
                        </a:spcAft>
                        <a:buNone/>
                      </a:pPr>
                      <a:r>
                        <a:rPr lang="en-IN" sz="1800" dirty="0">
                          <a:latin typeface="Times New Roman" panose="02020603050405020304" pitchFamily="18" charset="0"/>
                          <a:cs typeface="Times New Roman" panose="02020603050405020304" pitchFamily="18" charset="0"/>
                        </a:rPr>
                        <a:t>Chaithanya R</a:t>
                      </a:r>
                      <a:endParaRPr sz="1800" dirty="0">
                        <a:latin typeface="Times New Roman" panose="02020603050405020304" pitchFamily="18" charset="0"/>
                        <a:cs typeface="Times New Roman" panose="02020603050405020304" pitchFamily="18" charset="0"/>
                      </a:endParaRPr>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endParaRPr sz="1800" dirty="0">
                        <a:latin typeface="Times New Roman" panose="02020603050405020304" pitchFamily="18" charset="0"/>
                        <a:cs typeface="Times New Roman" panose="02020603050405020304" pitchFamily="18" charset="0"/>
                      </a:endParaRPr>
                    </a:p>
                  </a:txBody>
                  <a:tcPr marL="91450" marR="91450" marT="45725" marB="45725">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lgn="ctr">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r>
                        <a:rPr lang="en-IN" sz="1800" dirty="0">
                          <a:latin typeface="Times New Roman" panose="02020603050405020304" pitchFamily="18" charset="0"/>
                          <a:cs typeface="Times New Roman" panose="02020603050405020304" pitchFamily="18" charset="0"/>
                        </a:rPr>
                        <a:t>rchaithanya024.@gmail.com</a:t>
                      </a:r>
                      <a:endParaRPr sz="1800" dirty="0">
                        <a:latin typeface="Times New Roman" panose="02020603050405020304" pitchFamily="18" charset="0"/>
                        <a:cs typeface="Times New Roman" panose="02020603050405020304" pitchFamily="18" charset="0"/>
                      </a:endParaRPr>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r>
                        <a:rPr lang="en-IN" sz="1800" dirty="0">
                          <a:latin typeface="Times New Roman" panose="02020603050405020304" pitchFamily="18" charset="0"/>
                          <a:cs typeface="Times New Roman" panose="02020603050405020304" pitchFamily="18" charset="0"/>
                        </a:rPr>
                        <a:t>8050559285</a:t>
                      </a:r>
                      <a:endParaRPr sz="1800" dirty="0">
                        <a:latin typeface="Times New Roman" panose="02020603050405020304" pitchFamily="18" charset="0"/>
                        <a:cs typeface="Times New Roman" panose="02020603050405020304" pitchFamily="18" charset="0"/>
                      </a:endParaRPr>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extLst>
                  <a:ext uri="{0D108BD9-81ED-4DB2-BD59-A6C34878D82A}">
                    <a16:rowId xmlns:a16="http://schemas.microsoft.com/office/drawing/2014/main" val="10003"/>
                  </a:ext>
                </a:extLst>
              </a:tr>
            </a:tbl>
          </a:graphicData>
        </a:graphic>
      </p:graphicFrame>
      <p:pic>
        <p:nvPicPr>
          <p:cNvPr id="4" name="Picture 3">
            <a:extLst>
              <a:ext uri="{FF2B5EF4-FFF2-40B4-BE49-F238E27FC236}">
                <a16:creationId xmlns:a16="http://schemas.microsoft.com/office/drawing/2014/main" id="{93071BE8-5070-42BA-3450-6F0039B8532C}"/>
              </a:ext>
            </a:extLst>
          </p:cNvPr>
          <p:cNvPicPr>
            <a:picLocks noChangeAspect="1"/>
          </p:cNvPicPr>
          <p:nvPr/>
        </p:nvPicPr>
        <p:blipFill>
          <a:blip r:embed="rId3"/>
          <a:stretch>
            <a:fillRect/>
          </a:stretch>
        </p:blipFill>
        <p:spPr>
          <a:xfrm>
            <a:off x="335797" y="6315517"/>
            <a:ext cx="11520407" cy="310052"/>
          </a:xfrm>
          <a:prstGeom prst="rect">
            <a:avLst/>
          </a:prstGeom>
        </p:spPr>
      </p:pic>
      <p:pic>
        <p:nvPicPr>
          <p:cNvPr id="5" name="Picture 4">
            <a:extLst>
              <a:ext uri="{FF2B5EF4-FFF2-40B4-BE49-F238E27FC236}">
                <a16:creationId xmlns:a16="http://schemas.microsoft.com/office/drawing/2014/main" id="{746F1CD1-7702-0373-FA52-8842D497D4F2}"/>
              </a:ext>
            </a:extLst>
          </p:cNvPr>
          <p:cNvPicPr>
            <a:picLocks noChangeAspect="1"/>
          </p:cNvPicPr>
          <p:nvPr/>
        </p:nvPicPr>
        <p:blipFill>
          <a:blip r:embed="rId4"/>
          <a:stretch>
            <a:fillRect/>
          </a:stretch>
        </p:blipFill>
        <p:spPr>
          <a:xfrm>
            <a:off x="3927891" y="2526059"/>
            <a:ext cx="1280485" cy="948906"/>
          </a:xfrm>
          <a:prstGeom prst="rect">
            <a:avLst/>
          </a:prstGeom>
        </p:spPr>
      </p:pic>
      <p:pic>
        <p:nvPicPr>
          <p:cNvPr id="9" name="Picture 8">
            <a:extLst>
              <a:ext uri="{FF2B5EF4-FFF2-40B4-BE49-F238E27FC236}">
                <a16:creationId xmlns:a16="http://schemas.microsoft.com/office/drawing/2014/main" id="{6F8A1FB2-8390-AABA-0A88-89CDD6E5176B}"/>
              </a:ext>
            </a:extLst>
          </p:cNvPr>
          <p:cNvPicPr>
            <a:picLocks noChangeAspect="1"/>
          </p:cNvPicPr>
          <p:nvPr/>
        </p:nvPicPr>
        <p:blipFill>
          <a:blip r:embed="rId5"/>
          <a:stretch>
            <a:fillRect/>
          </a:stretch>
        </p:blipFill>
        <p:spPr>
          <a:xfrm>
            <a:off x="3927892" y="4989876"/>
            <a:ext cx="1280485" cy="960365"/>
          </a:xfrm>
          <a:prstGeom prst="rect">
            <a:avLst/>
          </a:prstGeom>
        </p:spPr>
      </p:pic>
      <p:pic>
        <p:nvPicPr>
          <p:cNvPr id="3" name="Picture 2">
            <a:extLst>
              <a:ext uri="{FF2B5EF4-FFF2-40B4-BE49-F238E27FC236}">
                <a16:creationId xmlns:a16="http://schemas.microsoft.com/office/drawing/2014/main" id="{4C08C672-8186-2B67-9BA1-7907CBB2F393}"/>
              </a:ext>
            </a:extLst>
          </p:cNvPr>
          <p:cNvPicPr>
            <a:picLocks noChangeAspect="1"/>
          </p:cNvPicPr>
          <p:nvPr/>
        </p:nvPicPr>
        <p:blipFill>
          <a:blip r:embed="rId6"/>
          <a:stretch>
            <a:fillRect/>
          </a:stretch>
        </p:blipFill>
        <p:spPr>
          <a:xfrm>
            <a:off x="3927894" y="3684031"/>
            <a:ext cx="1280486" cy="960365"/>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F4C0A7C6-2888-EA53-35AB-4072E6B1FDA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C6F6745E-14BA-0766-CE1E-32E29663832D}"/>
              </a:ext>
            </a:extLst>
          </p:cNvPr>
          <p:cNvSpPr txBox="1"/>
          <p:nvPr/>
        </p:nvSpPr>
        <p:spPr>
          <a:xfrm>
            <a:off x="805056" y="1188720"/>
            <a:ext cx="10547306" cy="2308324"/>
          </a:xfrm>
          <a:prstGeom prst="rect">
            <a:avLst/>
          </a:prstGeom>
          <a:noFill/>
        </p:spPr>
        <p:txBody>
          <a:bodyPr wrap="square" rtlCol="0">
            <a:spAutoFit/>
          </a:bodyPr>
          <a:lstStyle/>
          <a:p>
            <a:pPr algn="just"/>
            <a:r>
              <a:rPr lang="en-US" sz="2400" dirty="0">
                <a:latin typeface="Times New Roman" panose="02020603050405020304" pitchFamily="18" charset="0"/>
                <a:cs typeface="Times New Roman" panose="02020603050405020304" pitchFamily="18" charset="0"/>
              </a:rPr>
              <a:t>Urban traffic congestion is becoming increasingly complex due to rapid urbanization, rising vehicle density, unpredictable weather conditions, road incidents, and infrastructure limitations. Traffic authorities currently lack intelligent systems that can predict congestion risks early and provide planning-level insights. Existing systems are reactive rather than proactive, leading to delayed responses, poor planning, and inefficient traffic management decisions.</a:t>
            </a:r>
            <a:endParaRPr lang="en-IN" sz="2400" dirty="0">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9C57FE32-8AA8-E540-E0AA-C9737C71A0E2}"/>
              </a:ext>
            </a:extLst>
          </p:cNvPr>
          <p:cNvSpPr txBox="1"/>
          <p:nvPr/>
        </p:nvSpPr>
        <p:spPr>
          <a:xfrm>
            <a:off x="805056" y="447690"/>
            <a:ext cx="10547306" cy="58477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3200" b="1" dirty="0">
                <a:latin typeface="Times New Roman" panose="02020603050405020304" pitchFamily="18" charset="0"/>
                <a:cs typeface="Times New Roman" panose="02020603050405020304" pitchFamily="18" charset="0"/>
              </a:rPr>
              <a:t>Problem statement </a:t>
            </a:r>
          </a:p>
        </p:txBody>
      </p:sp>
      <p:pic>
        <p:nvPicPr>
          <p:cNvPr id="5" name="Picture 4">
            <a:extLst>
              <a:ext uri="{FF2B5EF4-FFF2-40B4-BE49-F238E27FC236}">
                <a16:creationId xmlns:a16="http://schemas.microsoft.com/office/drawing/2014/main" id="{E7A64CCA-ED49-69BC-3595-2C1CBD5E6D02}"/>
              </a:ext>
            </a:extLst>
          </p:cNvPr>
          <p:cNvPicPr>
            <a:picLocks noChangeAspect="1"/>
          </p:cNvPicPr>
          <p:nvPr/>
        </p:nvPicPr>
        <p:blipFill>
          <a:blip r:embed="rId3"/>
          <a:stretch>
            <a:fillRect/>
          </a:stretch>
        </p:blipFill>
        <p:spPr>
          <a:xfrm>
            <a:off x="335797" y="6315517"/>
            <a:ext cx="11520407" cy="310052"/>
          </a:xfrm>
          <a:prstGeom prst="rect">
            <a:avLst/>
          </a:prstGeom>
        </p:spPr>
      </p:pic>
    </p:spTree>
    <p:extLst>
      <p:ext uri="{BB962C8B-B14F-4D97-AF65-F5344CB8AC3E}">
        <p14:creationId xmlns:p14="http://schemas.microsoft.com/office/powerpoint/2010/main" val="295258420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12"/>
        <p:cNvGrpSpPr/>
        <p:nvPr/>
      </p:nvGrpSpPr>
      <p:grpSpPr>
        <a:xfrm>
          <a:off x="0" y="0"/>
          <a:ext cx="0" cy="0"/>
          <a:chOff x="0" y="0"/>
          <a:chExt cx="0" cy="0"/>
        </a:xfrm>
      </p:grpSpPr>
      <p:sp>
        <p:nvSpPr>
          <p:cNvPr id="118" name="Google Shape;118;p4"/>
          <p:cNvSpPr/>
          <p:nvPr/>
        </p:nvSpPr>
        <p:spPr>
          <a:xfrm>
            <a:off x="324894" y="4502602"/>
            <a:ext cx="2328056" cy="18893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2B3541"/>
              </a:buClr>
              <a:buSzPts val="1850"/>
              <a:buFont typeface="Times New Roman"/>
              <a:buNone/>
            </a:pPr>
            <a:endParaRPr sz="1850" b="0" i="0" u="none" strike="noStrike" cap="none" dirty="0">
              <a:solidFill>
                <a:srgbClr val="000000"/>
              </a:solidFill>
              <a:latin typeface="Times New Roman"/>
              <a:ea typeface="Times New Roman"/>
              <a:cs typeface="Times New Roman"/>
              <a:sym typeface="Times New Roman"/>
            </a:endParaRPr>
          </a:p>
        </p:txBody>
      </p:sp>
      <p:sp>
        <p:nvSpPr>
          <p:cNvPr id="2" name="TextBox 1">
            <a:extLst>
              <a:ext uri="{FF2B5EF4-FFF2-40B4-BE49-F238E27FC236}">
                <a16:creationId xmlns:a16="http://schemas.microsoft.com/office/drawing/2014/main" id="{8244C99C-C879-4B03-F7F7-7306F7D33083}"/>
              </a:ext>
            </a:extLst>
          </p:cNvPr>
          <p:cNvSpPr txBox="1"/>
          <p:nvPr/>
        </p:nvSpPr>
        <p:spPr>
          <a:xfrm>
            <a:off x="893254" y="1584102"/>
            <a:ext cx="10381298" cy="2308324"/>
          </a:xfrm>
          <a:prstGeom prst="rect">
            <a:avLst/>
          </a:prstGeom>
          <a:noFill/>
        </p:spPr>
        <p:txBody>
          <a:bodyPr wrap="square" rtlCol="0">
            <a:spAutoFit/>
          </a:bodyPr>
          <a:lstStyle/>
          <a:p>
            <a:r>
              <a:rPr lang="en-US" sz="2400" dirty="0">
                <a:latin typeface="Times New Roman" panose="02020603050405020304" pitchFamily="18" charset="0"/>
                <a:cs typeface="Times New Roman" panose="02020603050405020304" pitchFamily="18" charset="0"/>
              </a:rPr>
              <a:t>We propose an Agentic AI-based Traffic Congestion Early Warning System using Lang flow and IBM Granite Model. The system uses multiple AI agents to: Analyze real-time traffic data Detect congestion risk patterns Predict early warning signs Provide planning-level advisory insights. The system is assistive, not controlling infrastructure, and supports authorities in decision-making and planning.</a:t>
            </a:r>
            <a:endParaRPr lang="en-IN" sz="2400" dirty="0">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2F548320-B634-92CD-C520-43B25557F859}"/>
              </a:ext>
            </a:extLst>
          </p:cNvPr>
          <p:cNvSpPr txBox="1"/>
          <p:nvPr/>
        </p:nvSpPr>
        <p:spPr>
          <a:xfrm>
            <a:off x="893254" y="741143"/>
            <a:ext cx="10381297" cy="58477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3200" b="1" dirty="0">
                <a:latin typeface="Times New Roman" panose="02020603050405020304" pitchFamily="18" charset="0"/>
                <a:cs typeface="Times New Roman" panose="02020603050405020304" pitchFamily="18" charset="0"/>
              </a:rPr>
              <a:t>Proposed solution </a:t>
            </a:r>
          </a:p>
        </p:txBody>
      </p:sp>
      <p:pic>
        <p:nvPicPr>
          <p:cNvPr id="5" name="Picture 4">
            <a:extLst>
              <a:ext uri="{FF2B5EF4-FFF2-40B4-BE49-F238E27FC236}">
                <a16:creationId xmlns:a16="http://schemas.microsoft.com/office/drawing/2014/main" id="{68EE1157-422B-2DEC-F7BF-0A06B973C983}"/>
              </a:ext>
            </a:extLst>
          </p:cNvPr>
          <p:cNvPicPr>
            <a:picLocks noChangeAspect="1"/>
          </p:cNvPicPr>
          <p:nvPr/>
        </p:nvPicPr>
        <p:blipFill>
          <a:blip r:embed="rId3"/>
          <a:stretch>
            <a:fillRect/>
          </a:stretch>
        </p:blipFill>
        <p:spPr>
          <a:xfrm>
            <a:off x="335797" y="6315517"/>
            <a:ext cx="11520407" cy="310052"/>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12">
          <a:extLst>
            <a:ext uri="{FF2B5EF4-FFF2-40B4-BE49-F238E27FC236}">
              <a16:creationId xmlns:a16="http://schemas.microsoft.com/office/drawing/2014/main" id="{A01B5799-6C2E-7FE4-A2C6-734DB0499C95}"/>
            </a:ext>
          </a:extLst>
        </p:cNvPr>
        <p:cNvGrpSpPr/>
        <p:nvPr/>
      </p:nvGrpSpPr>
      <p:grpSpPr>
        <a:xfrm>
          <a:off x="0" y="0"/>
          <a:ext cx="0" cy="0"/>
          <a:chOff x="0" y="0"/>
          <a:chExt cx="0" cy="0"/>
        </a:xfrm>
      </p:grpSpPr>
      <p:sp>
        <p:nvSpPr>
          <p:cNvPr id="118" name="Google Shape;118;p4">
            <a:extLst>
              <a:ext uri="{FF2B5EF4-FFF2-40B4-BE49-F238E27FC236}">
                <a16:creationId xmlns:a16="http://schemas.microsoft.com/office/drawing/2014/main" id="{4CB905EF-62C2-FD1F-CE05-FBD2CBBD3921}"/>
              </a:ext>
            </a:extLst>
          </p:cNvPr>
          <p:cNvSpPr/>
          <p:nvPr/>
        </p:nvSpPr>
        <p:spPr>
          <a:xfrm>
            <a:off x="324894" y="4502602"/>
            <a:ext cx="2328056" cy="18893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2B3541"/>
              </a:buClr>
              <a:buSzPts val="1850"/>
              <a:buFont typeface="Times New Roman"/>
              <a:buNone/>
            </a:pPr>
            <a:endParaRPr sz="1850" b="0" i="0" u="none" strike="noStrike" cap="none" dirty="0">
              <a:solidFill>
                <a:srgbClr val="000000"/>
              </a:solidFill>
              <a:latin typeface="Times New Roman"/>
              <a:ea typeface="Times New Roman"/>
              <a:cs typeface="Times New Roman"/>
              <a:sym typeface="Times New Roman"/>
            </a:endParaRPr>
          </a:p>
        </p:txBody>
      </p:sp>
      <p:sp>
        <p:nvSpPr>
          <p:cNvPr id="2" name="TextBox 1">
            <a:extLst>
              <a:ext uri="{FF2B5EF4-FFF2-40B4-BE49-F238E27FC236}">
                <a16:creationId xmlns:a16="http://schemas.microsoft.com/office/drawing/2014/main" id="{D6526727-ECCC-12A7-1A74-4C72030B01EA}"/>
              </a:ext>
            </a:extLst>
          </p:cNvPr>
          <p:cNvSpPr txBox="1"/>
          <p:nvPr/>
        </p:nvSpPr>
        <p:spPr>
          <a:xfrm>
            <a:off x="1034440" y="1584102"/>
            <a:ext cx="10240111" cy="2308324"/>
          </a:xfrm>
          <a:prstGeom prst="rect">
            <a:avLst/>
          </a:prstGeom>
          <a:noFill/>
        </p:spPr>
        <p:txBody>
          <a:bodyPr wrap="square" rtlCol="0">
            <a:spAutoFit/>
          </a:bodyPr>
          <a:lstStyle/>
          <a:p>
            <a:pPr marL="285750" indent="-28575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Increasing urban traffic complexity </a:t>
            </a:r>
          </a:p>
          <a:p>
            <a:pPr marL="285750" indent="-28575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Lack of early congestion prediction systems</a:t>
            </a:r>
          </a:p>
          <a:p>
            <a:pPr marL="285750" indent="-28575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Reactive traffic management approach</a:t>
            </a:r>
          </a:p>
          <a:p>
            <a:pPr marL="285750" indent="-28575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Need for intelligent planning support tools</a:t>
            </a:r>
          </a:p>
          <a:p>
            <a:pPr marL="285750" indent="-28575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Demand for AI-assisted smart city infrastructure</a:t>
            </a:r>
          </a:p>
          <a:p>
            <a:pPr marL="285750" indent="-28575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Support data-driven governance</a:t>
            </a:r>
            <a:endParaRPr lang="en-IN" sz="2400" dirty="0">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0A9D9ED1-DFE2-2CB1-E07B-2D3C44A85C9C}"/>
              </a:ext>
            </a:extLst>
          </p:cNvPr>
          <p:cNvSpPr txBox="1"/>
          <p:nvPr/>
        </p:nvSpPr>
        <p:spPr>
          <a:xfrm>
            <a:off x="1034441" y="524940"/>
            <a:ext cx="10240110" cy="58477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3200" b="1" dirty="0">
                <a:latin typeface="Times New Roman" panose="02020603050405020304" pitchFamily="18" charset="0"/>
                <a:cs typeface="Times New Roman" panose="02020603050405020304" pitchFamily="18" charset="0"/>
              </a:rPr>
              <a:t>Need of project </a:t>
            </a:r>
          </a:p>
        </p:txBody>
      </p:sp>
      <p:pic>
        <p:nvPicPr>
          <p:cNvPr id="5" name="Picture 4">
            <a:extLst>
              <a:ext uri="{FF2B5EF4-FFF2-40B4-BE49-F238E27FC236}">
                <a16:creationId xmlns:a16="http://schemas.microsoft.com/office/drawing/2014/main" id="{B04F3E9D-0527-2FF2-E87C-9369E2B678CF}"/>
              </a:ext>
            </a:extLst>
          </p:cNvPr>
          <p:cNvPicPr>
            <a:picLocks noChangeAspect="1"/>
          </p:cNvPicPr>
          <p:nvPr/>
        </p:nvPicPr>
        <p:blipFill>
          <a:blip r:embed="rId3"/>
          <a:stretch>
            <a:fillRect/>
          </a:stretch>
        </p:blipFill>
        <p:spPr>
          <a:xfrm>
            <a:off x="335797" y="6315517"/>
            <a:ext cx="11520407" cy="310052"/>
          </a:xfrm>
          <a:prstGeom prst="rect">
            <a:avLst/>
          </a:prstGeom>
        </p:spPr>
      </p:pic>
    </p:spTree>
    <p:extLst>
      <p:ext uri="{BB962C8B-B14F-4D97-AF65-F5344CB8AC3E}">
        <p14:creationId xmlns:p14="http://schemas.microsoft.com/office/powerpoint/2010/main" val="103413959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12">
          <a:extLst>
            <a:ext uri="{FF2B5EF4-FFF2-40B4-BE49-F238E27FC236}">
              <a16:creationId xmlns:a16="http://schemas.microsoft.com/office/drawing/2014/main" id="{1D21EE38-4FEA-9D7F-68F1-831EDFE1FCF2}"/>
            </a:ext>
          </a:extLst>
        </p:cNvPr>
        <p:cNvGrpSpPr/>
        <p:nvPr/>
      </p:nvGrpSpPr>
      <p:grpSpPr>
        <a:xfrm>
          <a:off x="0" y="0"/>
          <a:ext cx="0" cy="0"/>
          <a:chOff x="0" y="0"/>
          <a:chExt cx="0" cy="0"/>
        </a:xfrm>
      </p:grpSpPr>
      <p:sp>
        <p:nvSpPr>
          <p:cNvPr id="118" name="Google Shape;118;p4">
            <a:extLst>
              <a:ext uri="{FF2B5EF4-FFF2-40B4-BE49-F238E27FC236}">
                <a16:creationId xmlns:a16="http://schemas.microsoft.com/office/drawing/2014/main" id="{68C1E71E-9159-FD3B-73D2-CC7380E7CB93}"/>
              </a:ext>
            </a:extLst>
          </p:cNvPr>
          <p:cNvSpPr/>
          <p:nvPr/>
        </p:nvSpPr>
        <p:spPr>
          <a:xfrm>
            <a:off x="324894" y="4502602"/>
            <a:ext cx="2328056" cy="18893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2B3541"/>
              </a:buClr>
              <a:buSzPts val="1850"/>
              <a:buFont typeface="Times New Roman"/>
              <a:buNone/>
            </a:pPr>
            <a:endParaRPr sz="1850" b="0" i="0" u="none" strike="noStrike" cap="none" dirty="0">
              <a:solidFill>
                <a:srgbClr val="000000"/>
              </a:solidFill>
              <a:latin typeface="Times New Roman"/>
              <a:ea typeface="Times New Roman"/>
              <a:cs typeface="Times New Roman"/>
              <a:sym typeface="Times New Roman"/>
            </a:endParaRPr>
          </a:p>
        </p:txBody>
      </p:sp>
      <p:sp>
        <p:nvSpPr>
          <p:cNvPr id="2" name="TextBox 1">
            <a:extLst>
              <a:ext uri="{FF2B5EF4-FFF2-40B4-BE49-F238E27FC236}">
                <a16:creationId xmlns:a16="http://schemas.microsoft.com/office/drawing/2014/main" id="{081273CA-7EF7-F715-EF93-66F231F3ABD1}"/>
              </a:ext>
            </a:extLst>
          </p:cNvPr>
          <p:cNvSpPr txBox="1"/>
          <p:nvPr/>
        </p:nvSpPr>
        <p:spPr>
          <a:xfrm>
            <a:off x="1005840" y="1584102"/>
            <a:ext cx="10268712" cy="2308324"/>
          </a:xfrm>
          <a:prstGeom prst="rect">
            <a:avLst/>
          </a:prstGeom>
          <a:noFill/>
        </p:spPr>
        <p:txBody>
          <a:bodyPr wrap="square" rtlCol="0">
            <a:spAutoFit/>
          </a:bodyPr>
          <a:lstStyle/>
          <a:p>
            <a:pPr marL="342900" indent="-34290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Traffic Management Authorities</a:t>
            </a:r>
          </a:p>
          <a:p>
            <a:pPr marL="342900" indent="-34290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Smart City Planners</a:t>
            </a:r>
          </a:p>
          <a:p>
            <a:pPr marL="342900" indent="-34290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Urban Transport Departments</a:t>
            </a:r>
          </a:p>
          <a:p>
            <a:pPr marL="342900" indent="-34290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City Administration Bodies</a:t>
            </a:r>
          </a:p>
          <a:p>
            <a:pPr marL="342900" indent="-34290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Infrastructure Planning Agencies</a:t>
            </a:r>
          </a:p>
          <a:p>
            <a:pPr marL="342900" indent="-34290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Public Safety Authorities</a:t>
            </a:r>
            <a:endParaRPr lang="en-IN" sz="2400" dirty="0">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F987C414-2D49-9E5D-A5D6-CF94524B9BE5}"/>
              </a:ext>
            </a:extLst>
          </p:cNvPr>
          <p:cNvSpPr txBox="1"/>
          <p:nvPr/>
        </p:nvSpPr>
        <p:spPr>
          <a:xfrm>
            <a:off x="1034441" y="524940"/>
            <a:ext cx="5496434" cy="58477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3200" b="1" dirty="0">
                <a:latin typeface="Times New Roman" panose="02020603050405020304" pitchFamily="18" charset="0"/>
                <a:cs typeface="Times New Roman" panose="02020603050405020304" pitchFamily="18" charset="0"/>
              </a:rPr>
              <a:t>End user of project</a:t>
            </a:r>
            <a:endParaRPr lang="en-US" sz="3200" dirty="0">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2899F497-8CBE-8DC8-B6F2-DCAEF5D36669}"/>
              </a:ext>
            </a:extLst>
          </p:cNvPr>
          <p:cNvPicPr>
            <a:picLocks noChangeAspect="1"/>
          </p:cNvPicPr>
          <p:nvPr/>
        </p:nvPicPr>
        <p:blipFill>
          <a:blip r:embed="rId3"/>
          <a:stretch>
            <a:fillRect/>
          </a:stretch>
        </p:blipFill>
        <p:spPr>
          <a:xfrm>
            <a:off x="335797" y="6315517"/>
            <a:ext cx="11520407" cy="310052"/>
          </a:xfrm>
          <a:prstGeom prst="rect">
            <a:avLst/>
          </a:prstGeom>
        </p:spPr>
      </p:pic>
    </p:spTree>
    <p:extLst>
      <p:ext uri="{BB962C8B-B14F-4D97-AF65-F5344CB8AC3E}">
        <p14:creationId xmlns:p14="http://schemas.microsoft.com/office/powerpoint/2010/main" val="428117650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200">
          <a:extLst>
            <a:ext uri="{FF2B5EF4-FFF2-40B4-BE49-F238E27FC236}">
              <a16:creationId xmlns:a16="http://schemas.microsoft.com/office/drawing/2014/main" id="{7C2A09DE-0AE2-AA94-B2C1-84FDBDB9DC64}"/>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151FBD4A-3273-E454-091D-D5B0678FC299}"/>
              </a:ext>
            </a:extLst>
          </p:cNvPr>
          <p:cNvSpPr txBox="1"/>
          <p:nvPr/>
        </p:nvSpPr>
        <p:spPr>
          <a:xfrm>
            <a:off x="777240" y="484632"/>
            <a:ext cx="10515600" cy="584775"/>
          </a:xfrm>
          <a:prstGeom prst="rect">
            <a:avLst/>
          </a:prstGeom>
          <a:noFill/>
        </p:spPr>
        <p:txBody>
          <a:bodyPr wrap="square" rtlCol="0">
            <a:spAutoFit/>
          </a:bodyPr>
          <a:lstStyle/>
          <a:p>
            <a:r>
              <a:rPr lang="en-US" sz="3200" b="1" dirty="0">
                <a:latin typeface="Times New Roman" panose="02020603050405020304" pitchFamily="18" charset="0"/>
                <a:cs typeface="Times New Roman" panose="02020603050405020304" pitchFamily="18" charset="0"/>
              </a:rPr>
              <a:t>Technology Used</a:t>
            </a:r>
            <a:endParaRPr lang="en-IN" sz="3200" b="1" dirty="0">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4A7608B5-9906-EFCF-959A-E89FC2E3EE19}"/>
              </a:ext>
            </a:extLst>
          </p:cNvPr>
          <p:cNvSpPr txBox="1"/>
          <p:nvPr/>
        </p:nvSpPr>
        <p:spPr>
          <a:xfrm>
            <a:off x="777240" y="1207008"/>
            <a:ext cx="10515600" cy="4401205"/>
          </a:xfrm>
          <a:prstGeom prst="rect">
            <a:avLst/>
          </a:prstGeom>
          <a:noFill/>
        </p:spPr>
        <p:txBody>
          <a:bodyPr wrap="square" rtlCol="0">
            <a:spAutoFit/>
          </a:bodyPr>
          <a:lstStyle/>
          <a:p>
            <a:pPr marL="285750" indent="-28575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Platform:</a:t>
            </a:r>
          </a:p>
          <a:p>
            <a:pPr marL="457200" indent="-457200">
              <a:buFont typeface="+mj-lt"/>
              <a:buAutoNum type="arabicPeriod"/>
            </a:pPr>
            <a:r>
              <a:rPr lang="en-US" sz="2000" dirty="0">
                <a:latin typeface="Times New Roman" panose="02020603050405020304" pitchFamily="18" charset="0"/>
                <a:cs typeface="Times New Roman" panose="02020603050405020304" pitchFamily="18" charset="0"/>
              </a:rPr>
              <a:t>Langflow</a:t>
            </a:r>
          </a:p>
          <a:p>
            <a:pPr marL="285750" indent="-28575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Langflow Components:</a:t>
            </a:r>
          </a:p>
          <a:p>
            <a:pPr marL="457200" indent="-457200">
              <a:buFont typeface="+mj-lt"/>
              <a:buAutoNum type="arabicPeriod"/>
            </a:pPr>
            <a:r>
              <a:rPr lang="en-US" sz="2000" dirty="0">
                <a:latin typeface="Times New Roman" panose="02020603050405020304" pitchFamily="18" charset="0"/>
                <a:cs typeface="Times New Roman" panose="02020603050405020304" pitchFamily="18" charset="0"/>
              </a:rPr>
              <a:t>Agent</a:t>
            </a:r>
          </a:p>
          <a:p>
            <a:pPr marL="457200" indent="-457200">
              <a:buFont typeface="+mj-lt"/>
              <a:buAutoNum type="arabicPeriod"/>
            </a:pPr>
            <a:r>
              <a:rPr lang="en-US" sz="2000" dirty="0">
                <a:latin typeface="Times New Roman" panose="02020603050405020304" pitchFamily="18" charset="0"/>
                <a:cs typeface="Times New Roman" panose="02020603050405020304" pitchFamily="18" charset="0"/>
              </a:rPr>
              <a:t>Chat Input</a:t>
            </a:r>
          </a:p>
          <a:p>
            <a:pPr marL="457200" indent="-457200">
              <a:buFont typeface="+mj-lt"/>
              <a:buAutoNum type="arabicPeriod"/>
            </a:pPr>
            <a:r>
              <a:rPr lang="en-US" sz="2000" dirty="0">
                <a:latin typeface="Times New Roman" panose="02020603050405020304" pitchFamily="18" charset="0"/>
                <a:cs typeface="Times New Roman" panose="02020603050405020304" pitchFamily="18" charset="0"/>
              </a:rPr>
              <a:t>Chat Output</a:t>
            </a:r>
          </a:p>
          <a:p>
            <a:pPr marL="457200" indent="-457200">
              <a:buFont typeface="+mj-lt"/>
              <a:buAutoNum type="arabicPeriod"/>
            </a:pPr>
            <a:r>
              <a:rPr lang="en-US" sz="2000" dirty="0">
                <a:latin typeface="Times New Roman" panose="02020603050405020304" pitchFamily="18" charset="0"/>
                <a:cs typeface="Times New Roman" panose="02020603050405020304" pitchFamily="18" charset="0"/>
              </a:rPr>
              <a:t>FAISS (Vector Store)Split Text</a:t>
            </a:r>
          </a:p>
          <a:p>
            <a:pPr marL="457200" indent="-457200">
              <a:buFont typeface="+mj-lt"/>
              <a:buAutoNum type="arabicPeriod"/>
            </a:pPr>
            <a:r>
              <a:rPr lang="en-US" sz="2000" dirty="0">
                <a:latin typeface="Times New Roman" panose="02020603050405020304" pitchFamily="18" charset="0"/>
                <a:cs typeface="Times New Roman" panose="02020603050405020304" pitchFamily="18" charset="0"/>
              </a:rPr>
              <a:t>Embedding Model</a:t>
            </a:r>
          </a:p>
          <a:p>
            <a:pPr marL="285750" indent="-28575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AI Models:</a:t>
            </a:r>
          </a:p>
          <a:p>
            <a:pPr marL="457200" indent="-457200">
              <a:buFont typeface="+mj-lt"/>
              <a:buAutoNum type="arabicPeriod"/>
            </a:pPr>
            <a:r>
              <a:rPr lang="en-US" sz="2000" dirty="0">
                <a:latin typeface="Times New Roman" panose="02020603050405020304" pitchFamily="18" charset="0"/>
                <a:cs typeface="Times New Roman" panose="02020603050405020304" pitchFamily="18" charset="0"/>
              </a:rPr>
              <a:t>IBM Granite Model (e.g., ibm-granite-3-2-8b)</a:t>
            </a:r>
          </a:p>
          <a:p>
            <a:pPr marL="457200" indent="-457200">
              <a:buFont typeface="+mj-lt"/>
              <a:buAutoNum type="arabicPeriod"/>
            </a:pPr>
            <a:r>
              <a:rPr lang="en-US" sz="2000" dirty="0">
                <a:latin typeface="Times New Roman" panose="02020603050405020304" pitchFamily="18" charset="0"/>
                <a:cs typeface="Times New Roman" panose="02020603050405020304" pitchFamily="18" charset="0"/>
              </a:rPr>
              <a:t>IBM Watsonx.ai</a:t>
            </a:r>
          </a:p>
          <a:p>
            <a:pPr marL="285750" indent="-28575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Architecture:</a:t>
            </a:r>
          </a:p>
          <a:p>
            <a:pPr marL="457200" indent="-457200">
              <a:buFont typeface="+mj-lt"/>
              <a:buAutoNum type="arabicPeriod"/>
            </a:pPr>
            <a:r>
              <a:rPr lang="en-US" sz="2000" dirty="0">
                <a:latin typeface="Times New Roman" panose="02020603050405020304" pitchFamily="18" charset="0"/>
                <a:cs typeface="Times New Roman" panose="02020603050405020304" pitchFamily="18" charset="0"/>
              </a:rPr>
              <a:t>Agentic AI Architecture</a:t>
            </a:r>
          </a:p>
          <a:p>
            <a:pPr marL="457200" indent="-457200">
              <a:buFont typeface="+mj-lt"/>
              <a:buAutoNum type="arabicPeriod"/>
            </a:pPr>
            <a:r>
              <a:rPr lang="en-US" sz="2000" dirty="0">
                <a:latin typeface="Times New Roman" panose="02020603050405020304" pitchFamily="18" charset="0"/>
                <a:cs typeface="Times New Roman" panose="02020603050405020304" pitchFamily="18" charset="0"/>
              </a:rPr>
              <a:t>RAG (Retrieval Augmented Generation)</a:t>
            </a:r>
            <a:endParaRPr lang="en-IN" sz="2000" dirty="0">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BD72C005-E1BD-D1EA-4A68-50937DBCE5A8}"/>
              </a:ext>
            </a:extLst>
          </p:cNvPr>
          <p:cNvPicPr>
            <a:picLocks noChangeAspect="1"/>
          </p:cNvPicPr>
          <p:nvPr/>
        </p:nvPicPr>
        <p:blipFill>
          <a:blip r:embed="rId3"/>
          <a:stretch>
            <a:fillRect/>
          </a:stretch>
        </p:blipFill>
        <p:spPr>
          <a:xfrm>
            <a:off x="335797" y="6315517"/>
            <a:ext cx="11520407" cy="310052"/>
          </a:xfrm>
          <a:prstGeom prst="rect">
            <a:avLst/>
          </a:prstGeom>
        </p:spPr>
      </p:pic>
    </p:spTree>
    <p:extLst>
      <p:ext uri="{BB962C8B-B14F-4D97-AF65-F5344CB8AC3E}">
        <p14:creationId xmlns:p14="http://schemas.microsoft.com/office/powerpoint/2010/main" val="376440584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274"/>
        <p:cNvGrpSpPr/>
        <p:nvPr/>
      </p:nvGrpSpPr>
      <p:grpSpPr>
        <a:xfrm>
          <a:off x="0" y="0"/>
          <a:ext cx="0" cy="0"/>
          <a:chOff x="0" y="0"/>
          <a:chExt cx="0" cy="0"/>
        </a:xfrm>
      </p:grpSpPr>
      <p:sp>
        <p:nvSpPr>
          <p:cNvPr id="278" name="Google Shape;278;p18"/>
          <p:cNvSpPr/>
          <p:nvPr/>
        </p:nvSpPr>
        <p:spPr>
          <a:xfrm>
            <a:off x="1218724" y="475593"/>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Clr>
                <a:srgbClr val="051D3A"/>
              </a:buClr>
              <a:buSzPts val="3500"/>
              <a:buFont typeface="Times New Roman"/>
              <a:buNone/>
            </a:pPr>
            <a:r>
              <a:rPr lang="en-US" sz="3200" b="1" i="0" u="none" strike="noStrike" cap="none" dirty="0">
                <a:solidFill>
                  <a:srgbClr val="051D3A"/>
                </a:solidFill>
                <a:latin typeface="Times New Roman" panose="02020603050405020304" pitchFamily="18" charset="0"/>
                <a:ea typeface="Times New Roman"/>
                <a:cs typeface="Times New Roman" panose="02020603050405020304" pitchFamily="18" charset="0"/>
                <a:sym typeface="Times New Roman"/>
              </a:rPr>
              <a:t>Novelty and Uniqueness</a:t>
            </a:r>
            <a:endParaRPr sz="3200" b="1" i="0" u="none" strike="noStrike" cap="none" dirty="0">
              <a:solidFill>
                <a:srgbClr val="000000"/>
              </a:solidFill>
              <a:latin typeface="Times New Roman" panose="02020603050405020304" pitchFamily="18" charset="0"/>
              <a:ea typeface="Times New Roman"/>
              <a:cs typeface="Times New Roman" panose="02020603050405020304" pitchFamily="18" charset="0"/>
              <a:sym typeface="Times New Roman"/>
            </a:endParaRPr>
          </a:p>
        </p:txBody>
      </p:sp>
      <p:sp>
        <p:nvSpPr>
          <p:cNvPr id="279" name="Google Shape;279;p18"/>
          <p:cNvSpPr/>
          <p:nvPr/>
        </p:nvSpPr>
        <p:spPr>
          <a:xfrm>
            <a:off x="1064264" y="1583561"/>
            <a:ext cx="10276596" cy="4109873"/>
          </a:xfrm>
          <a:prstGeom prst="rect">
            <a:avLst/>
          </a:prstGeom>
          <a:noFill/>
          <a:ln>
            <a:noFill/>
          </a:ln>
        </p:spPr>
        <p:txBody>
          <a:bodyPr spcFirstLastPara="1" wrap="square" lIns="0" tIns="0" rIns="0" bIns="0" anchor="t" anchorCtr="0">
            <a:noAutofit/>
          </a:bodyPr>
          <a:lstStyle/>
          <a:p>
            <a:pPr marL="342900" lvl="0" indent="-342900">
              <a:lnSpc>
                <a:spcPct val="162162"/>
              </a:lnSpc>
              <a:buClr>
                <a:srgbClr val="2B3541"/>
              </a:buClr>
              <a:buSzPts val="1850"/>
              <a:buFont typeface="Arial" panose="020B0604020202020204" pitchFamily="34" charset="0"/>
              <a:buChar char="•"/>
            </a:pPr>
            <a:r>
              <a:rPr lang="en-US" sz="2400" dirty="0">
                <a:solidFill>
                  <a:srgbClr val="2B3541"/>
                </a:solidFill>
                <a:latin typeface="Times New Roman" panose="02020603050405020304" pitchFamily="18" charset="0"/>
                <a:ea typeface="Times New Roman"/>
                <a:cs typeface="Times New Roman" panose="02020603050405020304" pitchFamily="18" charset="0"/>
                <a:sym typeface="Times New Roman"/>
              </a:rPr>
              <a:t>Multi-agent architecture for intelligent traffic planning</a:t>
            </a:r>
          </a:p>
          <a:p>
            <a:pPr marL="342900" lvl="0" indent="-342900">
              <a:lnSpc>
                <a:spcPct val="162162"/>
              </a:lnSpc>
              <a:buClr>
                <a:srgbClr val="2B3541"/>
              </a:buClr>
              <a:buSzPts val="1850"/>
              <a:buFont typeface="Arial" panose="020B0604020202020204" pitchFamily="34" charset="0"/>
              <a:buChar char="•"/>
            </a:pPr>
            <a:r>
              <a:rPr lang="en-US" sz="2400" dirty="0">
                <a:solidFill>
                  <a:srgbClr val="2B3541"/>
                </a:solidFill>
                <a:latin typeface="Times New Roman" panose="02020603050405020304" pitchFamily="18" charset="0"/>
                <a:ea typeface="Times New Roman"/>
                <a:cs typeface="Times New Roman" panose="02020603050405020304" pitchFamily="18" charset="0"/>
                <a:sym typeface="Times New Roman"/>
              </a:rPr>
              <a:t>AI-driven early congestion risk prediction</a:t>
            </a:r>
          </a:p>
          <a:p>
            <a:pPr marL="342900" lvl="0" indent="-342900">
              <a:lnSpc>
                <a:spcPct val="162162"/>
              </a:lnSpc>
              <a:buClr>
                <a:srgbClr val="2B3541"/>
              </a:buClr>
              <a:buSzPts val="1850"/>
              <a:buFont typeface="Arial" panose="020B0604020202020204" pitchFamily="34" charset="0"/>
              <a:buChar char="•"/>
            </a:pPr>
            <a:r>
              <a:rPr lang="en-US" sz="2400" dirty="0">
                <a:solidFill>
                  <a:srgbClr val="2B3541"/>
                </a:solidFill>
                <a:latin typeface="Times New Roman" panose="02020603050405020304" pitchFamily="18" charset="0"/>
                <a:ea typeface="Times New Roman"/>
                <a:cs typeface="Times New Roman" panose="02020603050405020304" pitchFamily="18" charset="0"/>
                <a:sym typeface="Times New Roman"/>
              </a:rPr>
              <a:t>RAG-based historical and policy knowledge integration</a:t>
            </a:r>
          </a:p>
          <a:p>
            <a:pPr marL="342900" lvl="0" indent="-342900">
              <a:lnSpc>
                <a:spcPct val="162162"/>
              </a:lnSpc>
              <a:buClr>
                <a:srgbClr val="2B3541"/>
              </a:buClr>
              <a:buSzPts val="1850"/>
              <a:buFont typeface="Arial" panose="020B0604020202020204" pitchFamily="34" charset="0"/>
              <a:buChar char="•"/>
            </a:pPr>
            <a:r>
              <a:rPr lang="en-US" sz="2400" dirty="0">
                <a:solidFill>
                  <a:srgbClr val="2B3541"/>
                </a:solidFill>
                <a:latin typeface="Times New Roman" panose="02020603050405020304" pitchFamily="18" charset="0"/>
                <a:ea typeface="Times New Roman"/>
                <a:cs typeface="Times New Roman" panose="02020603050405020304" pitchFamily="18" charset="0"/>
                <a:sym typeface="Times New Roman"/>
              </a:rPr>
              <a:t>Assistive AI (non-controlling system)</a:t>
            </a:r>
          </a:p>
          <a:p>
            <a:pPr marL="342900" lvl="0" indent="-342900">
              <a:lnSpc>
                <a:spcPct val="162162"/>
              </a:lnSpc>
              <a:buClr>
                <a:srgbClr val="2B3541"/>
              </a:buClr>
              <a:buSzPts val="1850"/>
              <a:buFont typeface="Arial" panose="020B0604020202020204" pitchFamily="34" charset="0"/>
              <a:buChar char="•"/>
            </a:pPr>
            <a:r>
              <a:rPr lang="en-US" sz="2400" dirty="0">
                <a:solidFill>
                  <a:srgbClr val="2B3541"/>
                </a:solidFill>
                <a:latin typeface="Times New Roman" panose="02020603050405020304" pitchFamily="18" charset="0"/>
                <a:ea typeface="Times New Roman"/>
                <a:cs typeface="Times New Roman" panose="02020603050405020304" pitchFamily="18" charset="0"/>
                <a:sym typeface="Times New Roman"/>
              </a:rPr>
              <a:t>Smart city–oriented design</a:t>
            </a:r>
          </a:p>
          <a:p>
            <a:pPr marL="342900" lvl="0" indent="-342900">
              <a:lnSpc>
                <a:spcPct val="162162"/>
              </a:lnSpc>
              <a:buClr>
                <a:srgbClr val="2B3541"/>
              </a:buClr>
              <a:buSzPts val="1850"/>
              <a:buFont typeface="Arial" panose="020B0604020202020204" pitchFamily="34" charset="0"/>
              <a:buChar char="•"/>
            </a:pPr>
            <a:r>
              <a:rPr lang="en-US" sz="2400" dirty="0">
                <a:solidFill>
                  <a:srgbClr val="2B3541"/>
                </a:solidFill>
                <a:latin typeface="Times New Roman" panose="02020603050405020304" pitchFamily="18" charset="0"/>
                <a:ea typeface="Times New Roman"/>
                <a:cs typeface="Times New Roman" panose="02020603050405020304" pitchFamily="18" charset="0"/>
                <a:sym typeface="Times New Roman"/>
              </a:rPr>
              <a:t>Ethical AI using IBM Granite governance</a:t>
            </a:r>
          </a:p>
          <a:p>
            <a:pPr marL="342900" lvl="0" indent="-342900">
              <a:lnSpc>
                <a:spcPct val="162162"/>
              </a:lnSpc>
              <a:buClr>
                <a:srgbClr val="2B3541"/>
              </a:buClr>
              <a:buSzPts val="1850"/>
              <a:buFont typeface="Arial" panose="020B0604020202020204" pitchFamily="34" charset="0"/>
              <a:buChar char="•"/>
            </a:pPr>
            <a:r>
              <a:rPr lang="en-US" sz="2400" dirty="0">
                <a:solidFill>
                  <a:srgbClr val="2B3541"/>
                </a:solidFill>
                <a:latin typeface="Times New Roman" panose="02020603050405020304" pitchFamily="18" charset="0"/>
                <a:ea typeface="Times New Roman"/>
                <a:cs typeface="Times New Roman" panose="02020603050405020304" pitchFamily="18" charset="0"/>
                <a:sym typeface="Times New Roman"/>
              </a:rPr>
              <a:t>Scalable for city-wide deployment</a:t>
            </a:r>
            <a:endParaRPr sz="2400" b="0" i="0" u="none" strike="noStrike" cap="none" dirty="0">
              <a:solidFill>
                <a:srgbClr val="000000"/>
              </a:solidFill>
              <a:latin typeface="Times New Roman" panose="02020603050405020304" pitchFamily="18" charset="0"/>
              <a:ea typeface="Times New Roman"/>
              <a:cs typeface="Times New Roman" panose="02020603050405020304" pitchFamily="18" charset="0"/>
              <a:sym typeface="Times New Roman"/>
            </a:endParaRPr>
          </a:p>
        </p:txBody>
      </p:sp>
      <p:pic>
        <p:nvPicPr>
          <p:cNvPr id="3" name="Picture 2">
            <a:extLst>
              <a:ext uri="{FF2B5EF4-FFF2-40B4-BE49-F238E27FC236}">
                <a16:creationId xmlns:a16="http://schemas.microsoft.com/office/drawing/2014/main" id="{676BD740-4294-408A-9014-7C75E9F50954}"/>
              </a:ext>
            </a:extLst>
          </p:cNvPr>
          <p:cNvPicPr>
            <a:picLocks noChangeAspect="1"/>
          </p:cNvPicPr>
          <p:nvPr/>
        </p:nvPicPr>
        <p:blipFill>
          <a:blip r:embed="rId3"/>
          <a:stretch>
            <a:fillRect/>
          </a:stretch>
        </p:blipFill>
        <p:spPr>
          <a:xfrm>
            <a:off x="335797" y="6315517"/>
            <a:ext cx="11520407" cy="310052"/>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73"/>
        <p:cNvGrpSpPr/>
        <p:nvPr/>
      </p:nvGrpSpPr>
      <p:grpSpPr>
        <a:xfrm>
          <a:off x="0" y="0"/>
          <a:ext cx="0" cy="0"/>
          <a:chOff x="0" y="0"/>
          <a:chExt cx="0" cy="0"/>
        </a:xfrm>
      </p:grpSpPr>
      <p:sp>
        <p:nvSpPr>
          <p:cNvPr id="179" name="Google Shape;179;p7"/>
          <p:cNvSpPr txBox="1"/>
          <p:nvPr/>
        </p:nvSpPr>
        <p:spPr>
          <a:xfrm>
            <a:off x="1003545" y="364352"/>
            <a:ext cx="8207828" cy="461624"/>
          </a:xfrm>
          <a:prstGeom prst="rect">
            <a:avLst/>
          </a:prstGeom>
          <a:noFill/>
          <a:ln>
            <a:noFill/>
          </a:ln>
        </p:spPr>
        <p:txBody>
          <a:bodyPr spcFirstLastPara="1" wrap="square" lIns="91425" tIns="45700" rIns="91425" bIns="45700" anchor="t" anchorCtr="0">
            <a:spAutoFit/>
          </a:bodyPr>
          <a:lstStyle/>
          <a:p>
            <a:pPr algn="ctr"/>
            <a:r>
              <a:rPr lang="en-US" sz="2400" b="1" dirty="0">
                <a:solidFill>
                  <a:schemeClr val="dk1"/>
                </a:solidFill>
                <a:ea typeface="Calibri"/>
                <a:cs typeface="Calibri"/>
                <a:sym typeface="Calibri"/>
              </a:rPr>
              <a:t>Technical flow diagram - Architecture</a:t>
            </a:r>
            <a:r>
              <a:rPr lang="en-US" sz="2400" b="1" i="0" u="none" strike="noStrike" cap="none" dirty="0">
                <a:solidFill>
                  <a:schemeClr val="dk1"/>
                </a:solidFill>
                <a:ea typeface="Calibri"/>
                <a:cs typeface="Calibri"/>
                <a:sym typeface="Calibri"/>
              </a:rPr>
              <a:t> blueprint</a:t>
            </a:r>
            <a:endParaRPr lang="en-US" sz="2400" b="1">
              <a:solidFill>
                <a:schemeClr val="dk1"/>
              </a:solidFill>
            </a:endParaRPr>
          </a:p>
        </p:txBody>
      </p:sp>
      <p:pic>
        <p:nvPicPr>
          <p:cNvPr id="3" name="Picture 2">
            <a:extLst>
              <a:ext uri="{FF2B5EF4-FFF2-40B4-BE49-F238E27FC236}">
                <a16:creationId xmlns:a16="http://schemas.microsoft.com/office/drawing/2014/main" id="{13F004CF-732B-B365-E320-17AD7B82A8D0}"/>
              </a:ext>
            </a:extLst>
          </p:cNvPr>
          <p:cNvPicPr>
            <a:picLocks noChangeAspect="1"/>
          </p:cNvPicPr>
          <p:nvPr/>
        </p:nvPicPr>
        <p:blipFill>
          <a:blip r:embed="rId3"/>
          <a:stretch>
            <a:fillRect/>
          </a:stretch>
        </p:blipFill>
        <p:spPr>
          <a:xfrm>
            <a:off x="335797" y="6315517"/>
            <a:ext cx="11520407" cy="310052"/>
          </a:xfrm>
          <a:prstGeom prst="rect">
            <a:avLst/>
          </a:prstGeom>
        </p:spPr>
      </p:pic>
      <p:pic>
        <p:nvPicPr>
          <p:cNvPr id="4" name="Picture 3">
            <a:extLst>
              <a:ext uri="{FF2B5EF4-FFF2-40B4-BE49-F238E27FC236}">
                <a16:creationId xmlns:a16="http://schemas.microsoft.com/office/drawing/2014/main" id="{40EFDBB6-44FA-FB58-72C8-B63EAEC9EACE}"/>
              </a:ext>
            </a:extLst>
          </p:cNvPr>
          <p:cNvPicPr>
            <a:picLocks noChangeAspect="1"/>
          </p:cNvPicPr>
          <p:nvPr/>
        </p:nvPicPr>
        <p:blipFill>
          <a:blip r:embed="rId4"/>
          <a:stretch>
            <a:fillRect/>
          </a:stretch>
        </p:blipFill>
        <p:spPr>
          <a:xfrm>
            <a:off x="688258" y="1002890"/>
            <a:ext cx="10746657" cy="5112775"/>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31">
          <a:extLst>
            <a:ext uri="{FF2B5EF4-FFF2-40B4-BE49-F238E27FC236}">
              <a16:creationId xmlns:a16="http://schemas.microsoft.com/office/drawing/2014/main" id="{CDF2A78E-5A0E-6814-8AF4-0AE54B0366E1}"/>
            </a:ext>
          </a:extLst>
        </p:cNvPr>
        <p:cNvGrpSpPr/>
        <p:nvPr/>
      </p:nvGrpSpPr>
      <p:grpSpPr>
        <a:xfrm>
          <a:off x="0" y="0"/>
          <a:ext cx="0" cy="0"/>
          <a:chOff x="0" y="0"/>
          <a:chExt cx="0" cy="0"/>
        </a:xfrm>
      </p:grpSpPr>
      <p:sp>
        <p:nvSpPr>
          <p:cNvPr id="135" name="Google Shape;135;p5">
            <a:extLst>
              <a:ext uri="{FF2B5EF4-FFF2-40B4-BE49-F238E27FC236}">
                <a16:creationId xmlns:a16="http://schemas.microsoft.com/office/drawing/2014/main" id="{2A145802-2DD3-EEBA-7D44-210C05B98C91}"/>
              </a:ext>
            </a:extLst>
          </p:cNvPr>
          <p:cNvSpPr/>
          <p:nvPr/>
        </p:nvSpPr>
        <p:spPr>
          <a:xfrm>
            <a:off x="626696" y="466736"/>
            <a:ext cx="10938607" cy="448508"/>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51D3A"/>
              </a:buClr>
              <a:buSzPts val="3500"/>
              <a:buFont typeface="Times New Roman"/>
              <a:buNone/>
            </a:pPr>
            <a:r>
              <a:rPr lang="en-US" sz="3200" b="1" i="0" u="none" strike="noStrike" cap="none" dirty="0">
                <a:solidFill>
                  <a:srgbClr val="051D3A"/>
                </a:solidFill>
                <a:latin typeface="Times New Roman" panose="02020603050405020304" pitchFamily="18" charset="0"/>
                <a:ea typeface="Times New Roman"/>
                <a:cs typeface="Times New Roman" panose="02020603050405020304" pitchFamily="18" charset="0"/>
                <a:sym typeface="Times New Roman"/>
              </a:rPr>
              <a:t>Langflow component Used </a:t>
            </a:r>
            <a:endParaRPr lang="en-US" sz="3200" b="1" i="0" u="none" strike="noStrike" cap="none" dirty="0">
              <a:solidFill>
                <a:srgbClr val="000000"/>
              </a:solidFill>
              <a:latin typeface="Times New Roman" panose="02020603050405020304" pitchFamily="18" charset="0"/>
              <a:ea typeface="Times New Roman"/>
              <a:cs typeface="Times New Roman" panose="02020603050405020304" pitchFamily="18" charset="0"/>
            </a:endParaRPr>
          </a:p>
        </p:txBody>
      </p:sp>
      <p:sp>
        <p:nvSpPr>
          <p:cNvPr id="148" name="Google Shape;148;p5">
            <a:extLst>
              <a:ext uri="{FF2B5EF4-FFF2-40B4-BE49-F238E27FC236}">
                <a16:creationId xmlns:a16="http://schemas.microsoft.com/office/drawing/2014/main" id="{69E3EADC-1EAD-7419-145C-20998925206E}"/>
              </a:ext>
            </a:extLst>
          </p:cNvPr>
          <p:cNvSpPr/>
          <p:nvPr/>
        </p:nvSpPr>
        <p:spPr>
          <a:xfrm>
            <a:off x="2264331" y="6784578"/>
            <a:ext cx="2140744"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49" name="Google Shape;149;p5">
            <a:extLst>
              <a:ext uri="{FF2B5EF4-FFF2-40B4-BE49-F238E27FC236}">
                <a16:creationId xmlns:a16="http://schemas.microsoft.com/office/drawing/2014/main" id="{04E5872A-C331-C8F3-5D71-8E953BAAFE03}"/>
              </a:ext>
            </a:extLst>
          </p:cNvPr>
          <p:cNvSpPr/>
          <p:nvPr/>
        </p:nvSpPr>
        <p:spPr>
          <a:xfrm>
            <a:off x="1782604"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0" name="Google Shape;150;p5">
            <a:extLst>
              <a:ext uri="{FF2B5EF4-FFF2-40B4-BE49-F238E27FC236}">
                <a16:creationId xmlns:a16="http://schemas.microsoft.com/office/drawing/2014/main" id="{76EF3801-5D99-5EFA-9AA2-AD265775E354}"/>
              </a:ext>
            </a:extLst>
          </p:cNvPr>
          <p:cNvSpPr/>
          <p:nvPr/>
        </p:nvSpPr>
        <p:spPr>
          <a:xfrm>
            <a:off x="5732383" y="6784578"/>
            <a:ext cx="1793915"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1" name="Google Shape;151;p5">
            <a:extLst>
              <a:ext uri="{FF2B5EF4-FFF2-40B4-BE49-F238E27FC236}">
                <a16:creationId xmlns:a16="http://schemas.microsoft.com/office/drawing/2014/main" id="{DAD76A8A-9F2C-9EA9-25E9-40CD0FFAA869}"/>
              </a:ext>
            </a:extLst>
          </p:cNvPr>
          <p:cNvSpPr/>
          <p:nvPr/>
        </p:nvSpPr>
        <p:spPr>
          <a:xfrm>
            <a:off x="5077301"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2" name="Google Shape;152;p5">
            <a:extLst>
              <a:ext uri="{FF2B5EF4-FFF2-40B4-BE49-F238E27FC236}">
                <a16:creationId xmlns:a16="http://schemas.microsoft.com/office/drawing/2014/main" id="{8D9C4260-2673-337C-C898-4C22E0F8FD65}"/>
              </a:ext>
            </a:extLst>
          </p:cNvPr>
          <p:cNvSpPr/>
          <p:nvPr/>
        </p:nvSpPr>
        <p:spPr>
          <a:xfrm>
            <a:off x="9027081" y="6784578"/>
            <a:ext cx="1793915"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3" name="Google Shape;153;p5">
            <a:extLst>
              <a:ext uri="{FF2B5EF4-FFF2-40B4-BE49-F238E27FC236}">
                <a16:creationId xmlns:a16="http://schemas.microsoft.com/office/drawing/2014/main" id="{6167C3C6-3747-E373-84C3-3927C443B067}"/>
              </a:ext>
            </a:extLst>
          </p:cNvPr>
          <p:cNvSpPr/>
          <p:nvPr/>
        </p:nvSpPr>
        <p:spPr>
          <a:xfrm>
            <a:off x="8371999"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2" name="TextBox 1">
            <a:extLst>
              <a:ext uri="{FF2B5EF4-FFF2-40B4-BE49-F238E27FC236}">
                <a16:creationId xmlns:a16="http://schemas.microsoft.com/office/drawing/2014/main" id="{9BB86949-7ED1-C43B-B1E3-5122BB67A596}"/>
              </a:ext>
            </a:extLst>
          </p:cNvPr>
          <p:cNvSpPr txBox="1"/>
          <p:nvPr/>
        </p:nvSpPr>
        <p:spPr>
          <a:xfrm>
            <a:off x="621792" y="1389888"/>
            <a:ext cx="8823960" cy="3416320"/>
          </a:xfrm>
          <a:prstGeom prst="rect">
            <a:avLst/>
          </a:prstGeom>
          <a:noFill/>
        </p:spPr>
        <p:txBody>
          <a:bodyPr wrap="square" rtlCol="0">
            <a:spAutoFit/>
          </a:bodyPr>
          <a:lstStyle/>
          <a:p>
            <a:pPr marL="342900" indent="-34290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Chat Input</a:t>
            </a:r>
          </a:p>
          <a:p>
            <a:pPr marL="342900" indent="-34290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Chat Output</a:t>
            </a:r>
          </a:p>
          <a:p>
            <a:pPr marL="342900" indent="-34290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Agent Nodes</a:t>
            </a:r>
          </a:p>
          <a:p>
            <a:pPr marL="342900" indent="-34290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IBM Watsonx AI NodeI</a:t>
            </a:r>
          </a:p>
          <a:p>
            <a:pPr marL="342900" indent="-34290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BM Granite Model</a:t>
            </a:r>
          </a:p>
          <a:p>
            <a:pPr marL="342900" indent="-34290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FAISS Vector Store</a:t>
            </a:r>
          </a:p>
          <a:p>
            <a:pPr marL="342900" indent="-34290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Split Text Component</a:t>
            </a:r>
          </a:p>
          <a:p>
            <a:pPr marL="342900" indent="-34290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Embedding Model</a:t>
            </a:r>
          </a:p>
          <a:p>
            <a:pPr marL="342900" indent="-34290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RAG Pipeline</a:t>
            </a:r>
            <a:endParaRPr lang="en-IN" sz="2400" dirty="0">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F55A7959-9FC6-1DAE-7A47-36165450EF19}"/>
              </a:ext>
            </a:extLst>
          </p:cNvPr>
          <p:cNvPicPr>
            <a:picLocks noChangeAspect="1"/>
          </p:cNvPicPr>
          <p:nvPr/>
        </p:nvPicPr>
        <p:blipFill>
          <a:blip r:embed="rId3"/>
          <a:stretch>
            <a:fillRect/>
          </a:stretch>
        </p:blipFill>
        <p:spPr>
          <a:xfrm>
            <a:off x="335797" y="6315517"/>
            <a:ext cx="11520407" cy="310052"/>
          </a:xfrm>
          <a:prstGeom prst="rect">
            <a:avLst/>
          </a:prstGeom>
        </p:spPr>
      </p:pic>
    </p:spTree>
    <p:extLst>
      <p:ext uri="{BB962C8B-B14F-4D97-AF65-F5344CB8AC3E}">
        <p14:creationId xmlns:p14="http://schemas.microsoft.com/office/powerpoint/2010/main" val="32852639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73">
          <a:extLst>
            <a:ext uri="{FF2B5EF4-FFF2-40B4-BE49-F238E27FC236}">
              <a16:creationId xmlns:a16="http://schemas.microsoft.com/office/drawing/2014/main" id="{CA6090C0-0478-84F9-6D20-717B6FEB7326}"/>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48079FEC-4447-C4FA-64A4-CB532564DAF6}"/>
              </a:ext>
            </a:extLst>
          </p:cNvPr>
          <p:cNvSpPr txBox="1"/>
          <p:nvPr/>
        </p:nvSpPr>
        <p:spPr>
          <a:xfrm>
            <a:off x="838779" y="200739"/>
            <a:ext cx="4684069" cy="58477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3200" b="1" dirty="0">
                <a:latin typeface="Times New Roman" panose="02020603050405020304" pitchFamily="18" charset="0"/>
                <a:cs typeface="Times New Roman" panose="02020603050405020304" pitchFamily="18" charset="0"/>
              </a:rPr>
              <a:t>Input Screenshot 1 </a:t>
            </a:r>
            <a:endParaRPr lang="en-US" sz="3200" dirty="0">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073ADE60-811A-97E9-24FE-F2F7F61FA469}"/>
              </a:ext>
            </a:extLst>
          </p:cNvPr>
          <p:cNvPicPr>
            <a:picLocks noChangeAspect="1"/>
          </p:cNvPicPr>
          <p:nvPr/>
        </p:nvPicPr>
        <p:blipFill>
          <a:blip r:embed="rId3"/>
          <a:stretch>
            <a:fillRect/>
          </a:stretch>
        </p:blipFill>
        <p:spPr>
          <a:xfrm>
            <a:off x="335797" y="6315517"/>
            <a:ext cx="11520407" cy="310052"/>
          </a:xfrm>
          <a:prstGeom prst="rect">
            <a:avLst/>
          </a:prstGeom>
        </p:spPr>
      </p:pic>
      <p:pic>
        <p:nvPicPr>
          <p:cNvPr id="10" name="Picture 9">
            <a:extLst>
              <a:ext uri="{FF2B5EF4-FFF2-40B4-BE49-F238E27FC236}">
                <a16:creationId xmlns:a16="http://schemas.microsoft.com/office/drawing/2014/main" id="{D78A1494-8413-678A-302C-D461206EE5CC}"/>
              </a:ext>
            </a:extLst>
          </p:cNvPr>
          <p:cNvPicPr>
            <a:picLocks noChangeAspect="1"/>
          </p:cNvPicPr>
          <p:nvPr/>
        </p:nvPicPr>
        <p:blipFill>
          <a:blip r:embed="rId4"/>
          <a:stretch>
            <a:fillRect/>
          </a:stretch>
        </p:blipFill>
        <p:spPr>
          <a:xfrm>
            <a:off x="902898" y="772508"/>
            <a:ext cx="10299939" cy="5432904"/>
          </a:xfrm>
          <a:prstGeom prst="rect">
            <a:avLst/>
          </a:prstGeom>
        </p:spPr>
      </p:pic>
    </p:spTree>
    <p:extLst>
      <p:ext uri="{BB962C8B-B14F-4D97-AF65-F5344CB8AC3E}">
        <p14:creationId xmlns:p14="http://schemas.microsoft.com/office/powerpoint/2010/main" val="277250191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73">
          <a:extLst>
            <a:ext uri="{FF2B5EF4-FFF2-40B4-BE49-F238E27FC236}">
              <a16:creationId xmlns:a16="http://schemas.microsoft.com/office/drawing/2014/main" id="{9E2832E4-AC39-7A49-D4B6-C1A4B148ECF9}"/>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DD23FCBA-FC00-378F-C117-12DC1F4FD6E0}"/>
              </a:ext>
            </a:extLst>
          </p:cNvPr>
          <p:cNvSpPr txBox="1"/>
          <p:nvPr/>
        </p:nvSpPr>
        <p:spPr>
          <a:xfrm>
            <a:off x="1065320" y="138955"/>
            <a:ext cx="5466663" cy="58477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3200" b="1" dirty="0">
                <a:latin typeface="Times New Roman" panose="02020603050405020304" pitchFamily="18" charset="0"/>
                <a:cs typeface="Times New Roman" panose="02020603050405020304" pitchFamily="18" charset="0"/>
              </a:rPr>
              <a:t>Input Screenshot 2</a:t>
            </a:r>
          </a:p>
        </p:txBody>
      </p:sp>
      <p:pic>
        <p:nvPicPr>
          <p:cNvPr id="5" name="Picture 4">
            <a:extLst>
              <a:ext uri="{FF2B5EF4-FFF2-40B4-BE49-F238E27FC236}">
                <a16:creationId xmlns:a16="http://schemas.microsoft.com/office/drawing/2014/main" id="{C9B59E40-7B3E-CFB4-3FD9-6C10E068F0AF}"/>
              </a:ext>
            </a:extLst>
          </p:cNvPr>
          <p:cNvPicPr>
            <a:picLocks noChangeAspect="1"/>
          </p:cNvPicPr>
          <p:nvPr/>
        </p:nvPicPr>
        <p:blipFill>
          <a:blip r:embed="rId3"/>
          <a:stretch>
            <a:fillRect/>
          </a:stretch>
        </p:blipFill>
        <p:spPr>
          <a:xfrm>
            <a:off x="335797" y="6315517"/>
            <a:ext cx="11520407" cy="310052"/>
          </a:xfrm>
          <a:prstGeom prst="rect">
            <a:avLst/>
          </a:prstGeom>
        </p:spPr>
      </p:pic>
      <p:pic>
        <p:nvPicPr>
          <p:cNvPr id="6" name="Picture 5">
            <a:extLst>
              <a:ext uri="{FF2B5EF4-FFF2-40B4-BE49-F238E27FC236}">
                <a16:creationId xmlns:a16="http://schemas.microsoft.com/office/drawing/2014/main" id="{DE56B5F8-838D-986A-BEC6-5438F43ED07E}"/>
              </a:ext>
            </a:extLst>
          </p:cNvPr>
          <p:cNvPicPr>
            <a:picLocks noChangeAspect="1"/>
          </p:cNvPicPr>
          <p:nvPr/>
        </p:nvPicPr>
        <p:blipFill>
          <a:blip r:embed="rId4"/>
          <a:stretch>
            <a:fillRect/>
          </a:stretch>
        </p:blipFill>
        <p:spPr>
          <a:xfrm>
            <a:off x="799381" y="885644"/>
            <a:ext cx="10616242" cy="5302371"/>
          </a:xfrm>
          <a:prstGeom prst="rect">
            <a:avLst/>
          </a:prstGeom>
        </p:spPr>
      </p:pic>
    </p:spTree>
    <p:extLst>
      <p:ext uri="{BB962C8B-B14F-4D97-AF65-F5344CB8AC3E}">
        <p14:creationId xmlns:p14="http://schemas.microsoft.com/office/powerpoint/2010/main" val="79504377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73">
          <a:extLst>
            <a:ext uri="{FF2B5EF4-FFF2-40B4-BE49-F238E27FC236}">
              <a16:creationId xmlns:a16="http://schemas.microsoft.com/office/drawing/2014/main" id="{41ACF88B-2F75-CE59-3114-C1537EDD6599}"/>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6FFE5FD7-2292-570F-1397-1E9287F8CB9D}"/>
              </a:ext>
            </a:extLst>
          </p:cNvPr>
          <p:cNvSpPr txBox="1"/>
          <p:nvPr/>
        </p:nvSpPr>
        <p:spPr>
          <a:xfrm>
            <a:off x="1065320" y="138955"/>
            <a:ext cx="5260717" cy="58477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3200" b="1" dirty="0">
                <a:latin typeface="Times New Roman" panose="02020603050405020304" pitchFamily="18" charset="0"/>
                <a:cs typeface="Times New Roman" panose="02020603050405020304" pitchFamily="18" charset="0"/>
              </a:rPr>
              <a:t>Output Screenshot 1</a:t>
            </a:r>
            <a:endParaRPr lang="en-US" sz="3200" dirty="0">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A9872FD1-7A0B-E5B9-638C-B95C4CCFE94C}"/>
              </a:ext>
            </a:extLst>
          </p:cNvPr>
          <p:cNvPicPr>
            <a:picLocks noChangeAspect="1"/>
          </p:cNvPicPr>
          <p:nvPr/>
        </p:nvPicPr>
        <p:blipFill>
          <a:blip r:embed="rId3"/>
          <a:stretch>
            <a:fillRect/>
          </a:stretch>
        </p:blipFill>
        <p:spPr>
          <a:xfrm>
            <a:off x="335797" y="6321268"/>
            <a:ext cx="11520407" cy="310052"/>
          </a:xfrm>
          <a:prstGeom prst="rect">
            <a:avLst/>
          </a:prstGeom>
        </p:spPr>
      </p:pic>
      <p:pic>
        <p:nvPicPr>
          <p:cNvPr id="6" name="Picture 5">
            <a:extLst>
              <a:ext uri="{FF2B5EF4-FFF2-40B4-BE49-F238E27FC236}">
                <a16:creationId xmlns:a16="http://schemas.microsoft.com/office/drawing/2014/main" id="{36A8BC9B-DE10-FDEA-E1F6-AA5F0348F5B3}"/>
              </a:ext>
            </a:extLst>
          </p:cNvPr>
          <p:cNvPicPr>
            <a:picLocks noChangeAspect="1"/>
          </p:cNvPicPr>
          <p:nvPr/>
        </p:nvPicPr>
        <p:blipFill>
          <a:blip r:embed="rId4"/>
          <a:stretch>
            <a:fillRect/>
          </a:stretch>
        </p:blipFill>
        <p:spPr>
          <a:xfrm>
            <a:off x="1065320" y="810883"/>
            <a:ext cx="9943381" cy="5324649"/>
          </a:xfrm>
          <a:prstGeom prst="rect">
            <a:avLst/>
          </a:prstGeom>
        </p:spPr>
      </p:pic>
    </p:spTree>
    <p:extLst>
      <p:ext uri="{BB962C8B-B14F-4D97-AF65-F5344CB8AC3E}">
        <p14:creationId xmlns:p14="http://schemas.microsoft.com/office/powerpoint/2010/main" val="113568431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73">
          <a:extLst>
            <a:ext uri="{FF2B5EF4-FFF2-40B4-BE49-F238E27FC236}">
              <a16:creationId xmlns:a16="http://schemas.microsoft.com/office/drawing/2014/main" id="{5838F091-0014-6AB2-D2EE-81C735D1BEE2}"/>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CF9D04B6-7646-B3BF-9A84-684A467FADAB}"/>
              </a:ext>
            </a:extLst>
          </p:cNvPr>
          <p:cNvSpPr txBox="1"/>
          <p:nvPr/>
        </p:nvSpPr>
        <p:spPr>
          <a:xfrm>
            <a:off x="1219779" y="200739"/>
            <a:ext cx="4622285" cy="58477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3200" b="1" dirty="0">
                <a:latin typeface="Times New Roman" panose="02020603050405020304" pitchFamily="18" charset="0"/>
                <a:cs typeface="Times New Roman" panose="02020603050405020304" pitchFamily="18" charset="0"/>
              </a:rPr>
              <a:t>Output Screenshot 2</a:t>
            </a:r>
            <a:endParaRPr lang="en-US" sz="3200" dirty="0">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BF314CEB-36A0-2FF5-7F53-C10C910CAB03}"/>
              </a:ext>
            </a:extLst>
          </p:cNvPr>
          <p:cNvPicPr>
            <a:picLocks noChangeAspect="1"/>
          </p:cNvPicPr>
          <p:nvPr/>
        </p:nvPicPr>
        <p:blipFill>
          <a:blip r:embed="rId3"/>
          <a:stretch>
            <a:fillRect/>
          </a:stretch>
        </p:blipFill>
        <p:spPr>
          <a:xfrm>
            <a:off x="335797" y="6315517"/>
            <a:ext cx="11520407" cy="310052"/>
          </a:xfrm>
          <a:prstGeom prst="rect">
            <a:avLst/>
          </a:prstGeom>
        </p:spPr>
      </p:pic>
      <p:pic>
        <p:nvPicPr>
          <p:cNvPr id="4" name="Picture 3">
            <a:extLst>
              <a:ext uri="{FF2B5EF4-FFF2-40B4-BE49-F238E27FC236}">
                <a16:creationId xmlns:a16="http://schemas.microsoft.com/office/drawing/2014/main" id="{719A270B-2434-B32A-7A82-7DDED11ABC7A}"/>
              </a:ext>
            </a:extLst>
          </p:cNvPr>
          <p:cNvPicPr>
            <a:picLocks noChangeAspect="1"/>
          </p:cNvPicPr>
          <p:nvPr/>
        </p:nvPicPr>
        <p:blipFill>
          <a:blip r:embed="rId4"/>
          <a:stretch>
            <a:fillRect/>
          </a:stretch>
        </p:blipFill>
        <p:spPr>
          <a:xfrm>
            <a:off x="529087" y="983411"/>
            <a:ext cx="10414958" cy="5001180"/>
          </a:xfrm>
          <a:prstGeom prst="rect">
            <a:avLst/>
          </a:prstGeom>
        </p:spPr>
      </p:pic>
    </p:spTree>
    <p:extLst>
      <p:ext uri="{BB962C8B-B14F-4D97-AF65-F5344CB8AC3E}">
        <p14:creationId xmlns:p14="http://schemas.microsoft.com/office/powerpoint/2010/main" val="113884111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DBD9E99F-A4B5-B845-6659-39FEA797E463}"/>
              </a:ext>
            </a:extLst>
          </p:cNvPr>
          <p:cNvPicPr>
            <a:picLocks noChangeAspect="1"/>
          </p:cNvPicPr>
          <p:nvPr/>
        </p:nvPicPr>
        <p:blipFill>
          <a:blip r:embed="rId2"/>
          <a:stretch>
            <a:fillRect/>
          </a:stretch>
        </p:blipFill>
        <p:spPr>
          <a:xfrm>
            <a:off x="335797" y="6315517"/>
            <a:ext cx="11520407" cy="310052"/>
          </a:xfrm>
          <a:prstGeom prst="rect">
            <a:avLst/>
          </a:prstGeom>
        </p:spPr>
      </p:pic>
      <p:sp>
        <p:nvSpPr>
          <p:cNvPr id="4" name="TextBox 3">
            <a:extLst>
              <a:ext uri="{FF2B5EF4-FFF2-40B4-BE49-F238E27FC236}">
                <a16:creationId xmlns:a16="http://schemas.microsoft.com/office/drawing/2014/main" id="{66A8BE29-9C5A-0DCA-CB61-2815C8561AC1}"/>
              </a:ext>
            </a:extLst>
          </p:cNvPr>
          <p:cNvSpPr txBox="1"/>
          <p:nvPr/>
        </p:nvSpPr>
        <p:spPr>
          <a:xfrm>
            <a:off x="1092680" y="475840"/>
            <a:ext cx="6096000" cy="584775"/>
          </a:xfrm>
          <a:prstGeom prst="rect">
            <a:avLst/>
          </a:prstGeom>
          <a:noFill/>
        </p:spPr>
        <p:txBody>
          <a:bodyPr wrap="square">
            <a:spAutoFit/>
          </a:bodyPr>
          <a:lstStyle/>
          <a:p>
            <a:r>
              <a:rPr lang="en-US" sz="3200" b="1" dirty="0">
                <a:latin typeface="Times New Roman" panose="02020603050405020304" pitchFamily="18" charset="0"/>
                <a:cs typeface="Times New Roman" panose="02020603050405020304" pitchFamily="18" charset="0"/>
              </a:rPr>
              <a:t>Output Screenshot 3</a:t>
            </a:r>
            <a:endParaRPr lang="en-US" sz="3200" dirty="0">
              <a:latin typeface="Times New Roman" panose="02020603050405020304" pitchFamily="18" charset="0"/>
              <a:cs typeface="Times New Roman" panose="02020603050405020304" pitchFamily="18" charset="0"/>
            </a:endParaRPr>
          </a:p>
        </p:txBody>
      </p:sp>
      <p:pic>
        <p:nvPicPr>
          <p:cNvPr id="6" name="Picture 5">
            <a:extLst>
              <a:ext uri="{FF2B5EF4-FFF2-40B4-BE49-F238E27FC236}">
                <a16:creationId xmlns:a16="http://schemas.microsoft.com/office/drawing/2014/main" id="{8229FF82-431D-3980-2E48-1615E1FAD1D8}"/>
              </a:ext>
            </a:extLst>
          </p:cNvPr>
          <p:cNvPicPr>
            <a:picLocks noChangeAspect="1"/>
          </p:cNvPicPr>
          <p:nvPr/>
        </p:nvPicPr>
        <p:blipFill>
          <a:blip r:embed="rId3"/>
          <a:stretch>
            <a:fillRect/>
          </a:stretch>
        </p:blipFill>
        <p:spPr>
          <a:xfrm>
            <a:off x="718867" y="937403"/>
            <a:ext cx="10529977" cy="5170830"/>
          </a:xfrm>
          <a:prstGeom prst="rect">
            <a:avLst/>
          </a:prstGeom>
        </p:spPr>
      </p:pic>
    </p:spTree>
    <p:extLst>
      <p:ext uri="{BB962C8B-B14F-4D97-AF65-F5344CB8AC3E}">
        <p14:creationId xmlns:p14="http://schemas.microsoft.com/office/powerpoint/2010/main" val="195123878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D94C9DF6-9EBA-5E37-C2D2-569CBF12CB77}"/>
              </a:ext>
            </a:extLst>
          </p:cNvPr>
          <p:cNvPicPr>
            <a:picLocks noChangeAspect="1"/>
          </p:cNvPicPr>
          <p:nvPr/>
        </p:nvPicPr>
        <p:blipFill>
          <a:blip r:embed="rId2"/>
          <a:stretch>
            <a:fillRect/>
          </a:stretch>
        </p:blipFill>
        <p:spPr>
          <a:xfrm>
            <a:off x="335797" y="6315517"/>
            <a:ext cx="11520407" cy="310052"/>
          </a:xfrm>
          <a:prstGeom prst="rect">
            <a:avLst/>
          </a:prstGeom>
        </p:spPr>
      </p:pic>
      <p:pic>
        <p:nvPicPr>
          <p:cNvPr id="4" name="Picture 3">
            <a:extLst>
              <a:ext uri="{FF2B5EF4-FFF2-40B4-BE49-F238E27FC236}">
                <a16:creationId xmlns:a16="http://schemas.microsoft.com/office/drawing/2014/main" id="{4BA27AE1-0A63-A919-B8CA-9E1C477E7621}"/>
              </a:ext>
            </a:extLst>
          </p:cNvPr>
          <p:cNvPicPr>
            <a:picLocks noChangeAspect="1"/>
          </p:cNvPicPr>
          <p:nvPr/>
        </p:nvPicPr>
        <p:blipFill>
          <a:blip r:embed="rId3"/>
          <a:stretch>
            <a:fillRect/>
          </a:stretch>
        </p:blipFill>
        <p:spPr>
          <a:xfrm>
            <a:off x="648469" y="1069675"/>
            <a:ext cx="10446488" cy="5072332"/>
          </a:xfrm>
          <a:prstGeom prst="rect">
            <a:avLst/>
          </a:prstGeom>
        </p:spPr>
      </p:pic>
      <p:sp>
        <p:nvSpPr>
          <p:cNvPr id="6" name="TextBox 5">
            <a:extLst>
              <a:ext uri="{FF2B5EF4-FFF2-40B4-BE49-F238E27FC236}">
                <a16:creationId xmlns:a16="http://schemas.microsoft.com/office/drawing/2014/main" id="{5F6827D6-A20B-CD9B-E433-9F66635DA9E1}"/>
              </a:ext>
            </a:extLst>
          </p:cNvPr>
          <p:cNvSpPr txBox="1"/>
          <p:nvPr/>
        </p:nvSpPr>
        <p:spPr>
          <a:xfrm>
            <a:off x="1282461" y="398145"/>
            <a:ext cx="6096000" cy="584775"/>
          </a:xfrm>
          <a:prstGeom prst="rect">
            <a:avLst/>
          </a:prstGeom>
          <a:noFill/>
        </p:spPr>
        <p:txBody>
          <a:bodyPr wrap="square">
            <a:spAutoFit/>
          </a:bodyPr>
          <a:lstStyle/>
          <a:p>
            <a:r>
              <a:rPr lang="en-US" sz="3200" b="1" dirty="0">
                <a:latin typeface="Times New Roman" panose="02020603050405020304" pitchFamily="18" charset="0"/>
                <a:cs typeface="Times New Roman" panose="02020603050405020304" pitchFamily="18" charset="0"/>
              </a:rPr>
              <a:t>Output Screenshot 4</a:t>
            </a:r>
            <a:endParaRPr lang="en-US" sz="3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31717390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6FA0F82B-7EE5-EAB0-F470-130BDAC8254B}"/>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0668C6FD-577A-7288-5642-1AFC22BD04F2}"/>
              </a:ext>
            </a:extLst>
          </p:cNvPr>
          <p:cNvSpPr/>
          <p:nvPr/>
        </p:nvSpPr>
        <p:spPr>
          <a:xfrm>
            <a:off x="1218724" y="420729"/>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Clr>
                <a:srgbClr val="051D3A"/>
              </a:buClr>
              <a:buSzPts val="3500"/>
              <a:buFont typeface="Times New Roman"/>
              <a:buNone/>
            </a:pPr>
            <a:r>
              <a:rPr lang="en-US" sz="3200" b="1" i="0" u="none" strike="noStrike" cap="none" dirty="0">
                <a:solidFill>
                  <a:srgbClr val="051D3A"/>
                </a:solidFill>
                <a:latin typeface="Times New Roman" panose="02020603050405020304" pitchFamily="18" charset="0"/>
                <a:ea typeface="Times New Roman"/>
                <a:cs typeface="Times New Roman" panose="02020603050405020304" pitchFamily="18" charset="0"/>
                <a:sym typeface="Times New Roman"/>
              </a:rPr>
              <a:t>Future Scope </a:t>
            </a:r>
            <a:endParaRPr sz="3200" b="1" i="0" u="none" strike="noStrike" cap="none" dirty="0">
              <a:solidFill>
                <a:srgbClr val="000000"/>
              </a:solidFill>
              <a:latin typeface="Times New Roman" panose="02020603050405020304" pitchFamily="18" charset="0"/>
              <a:ea typeface="Times New Roman"/>
              <a:cs typeface="Times New Roman" panose="02020603050405020304" pitchFamily="18" charset="0"/>
              <a:sym typeface="Times New Roman"/>
            </a:endParaRPr>
          </a:p>
        </p:txBody>
      </p:sp>
      <p:sp>
        <p:nvSpPr>
          <p:cNvPr id="279" name="Google Shape;279;p18">
            <a:extLst>
              <a:ext uri="{FF2B5EF4-FFF2-40B4-BE49-F238E27FC236}">
                <a16:creationId xmlns:a16="http://schemas.microsoft.com/office/drawing/2014/main" id="{EAFA16CB-0A72-5AC5-69A0-ABF4A752B43F}"/>
              </a:ext>
            </a:extLst>
          </p:cNvPr>
          <p:cNvSpPr/>
          <p:nvPr/>
        </p:nvSpPr>
        <p:spPr>
          <a:xfrm>
            <a:off x="1282732" y="1393947"/>
            <a:ext cx="9494536" cy="4650295"/>
          </a:xfrm>
          <a:prstGeom prst="rect">
            <a:avLst/>
          </a:prstGeom>
          <a:noFill/>
          <a:ln>
            <a:noFill/>
          </a:ln>
        </p:spPr>
        <p:txBody>
          <a:bodyPr spcFirstLastPara="1" wrap="square" lIns="0" tIns="0" rIns="0" bIns="0" anchor="t" anchorCtr="0">
            <a:noAutofit/>
          </a:bodyPr>
          <a:lstStyle/>
          <a:p>
            <a:pPr marL="342900" lvl="0" indent="-342900">
              <a:lnSpc>
                <a:spcPct val="162162"/>
              </a:lnSpc>
              <a:buClr>
                <a:srgbClr val="2B3541"/>
              </a:buClr>
              <a:buSzPts val="1850"/>
              <a:buFont typeface="Arial" panose="020B0604020202020204" pitchFamily="34" charset="0"/>
              <a:buChar char="•"/>
            </a:pPr>
            <a:r>
              <a:rPr lang="en-US" sz="2400" dirty="0">
                <a:solidFill>
                  <a:srgbClr val="2B3541"/>
                </a:solidFill>
                <a:latin typeface="Times New Roman" panose="02020603050405020304" pitchFamily="18" charset="0"/>
                <a:ea typeface="Times New Roman"/>
                <a:cs typeface="Times New Roman" panose="02020603050405020304" pitchFamily="18" charset="0"/>
                <a:sym typeface="Times New Roman"/>
              </a:rPr>
              <a:t>Real-time IoT sensor integration</a:t>
            </a:r>
          </a:p>
          <a:p>
            <a:pPr marL="342900" lvl="0" indent="-342900">
              <a:lnSpc>
                <a:spcPct val="162162"/>
              </a:lnSpc>
              <a:buClr>
                <a:srgbClr val="2B3541"/>
              </a:buClr>
              <a:buSzPts val="1850"/>
              <a:buFont typeface="Arial" panose="020B0604020202020204" pitchFamily="34" charset="0"/>
              <a:buChar char="•"/>
            </a:pPr>
            <a:r>
              <a:rPr lang="en-US" sz="2400" dirty="0">
                <a:solidFill>
                  <a:srgbClr val="2B3541"/>
                </a:solidFill>
                <a:latin typeface="Times New Roman" panose="02020603050405020304" pitchFamily="18" charset="0"/>
                <a:ea typeface="Times New Roman"/>
                <a:cs typeface="Times New Roman" panose="02020603050405020304" pitchFamily="18" charset="0"/>
                <a:sym typeface="Times New Roman"/>
              </a:rPr>
              <a:t>CCTV traffic vision analysis</a:t>
            </a:r>
          </a:p>
          <a:p>
            <a:pPr marL="342900" lvl="0" indent="-342900">
              <a:lnSpc>
                <a:spcPct val="162162"/>
              </a:lnSpc>
              <a:buClr>
                <a:srgbClr val="2B3541"/>
              </a:buClr>
              <a:buSzPts val="1850"/>
              <a:buFont typeface="Arial" panose="020B0604020202020204" pitchFamily="34" charset="0"/>
              <a:buChar char="•"/>
            </a:pPr>
            <a:r>
              <a:rPr lang="en-US" sz="2400" dirty="0">
                <a:solidFill>
                  <a:srgbClr val="2B3541"/>
                </a:solidFill>
                <a:latin typeface="Times New Roman" panose="02020603050405020304" pitchFamily="18" charset="0"/>
                <a:ea typeface="Times New Roman"/>
                <a:cs typeface="Times New Roman" panose="02020603050405020304" pitchFamily="18" charset="0"/>
                <a:sym typeface="Times New Roman"/>
              </a:rPr>
              <a:t>AI-based traffic signal automation</a:t>
            </a:r>
          </a:p>
          <a:p>
            <a:pPr marL="342900" lvl="0" indent="-342900">
              <a:lnSpc>
                <a:spcPct val="162162"/>
              </a:lnSpc>
              <a:buClr>
                <a:srgbClr val="2B3541"/>
              </a:buClr>
              <a:buSzPts val="1850"/>
              <a:buFont typeface="Arial" panose="020B0604020202020204" pitchFamily="34" charset="0"/>
              <a:buChar char="•"/>
            </a:pPr>
            <a:r>
              <a:rPr lang="en-US" sz="2400" dirty="0">
                <a:solidFill>
                  <a:srgbClr val="2B3541"/>
                </a:solidFill>
                <a:latin typeface="Times New Roman" panose="02020603050405020304" pitchFamily="18" charset="0"/>
                <a:ea typeface="Times New Roman"/>
                <a:cs typeface="Times New Roman" panose="02020603050405020304" pitchFamily="18" charset="0"/>
                <a:sym typeface="Times New Roman"/>
              </a:rPr>
              <a:t>Digital twin city simulation</a:t>
            </a:r>
          </a:p>
          <a:p>
            <a:pPr marL="342900" lvl="0" indent="-342900">
              <a:lnSpc>
                <a:spcPct val="162162"/>
              </a:lnSpc>
              <a:buClr>
                <a:srgbClr val="2B3541"/>
              </a:buClr>
              <a:buSzPts val="1850"/>
              <a:buFont typeface="Arial" panose="020B0604020202020204" pitchFamily="34" charset="0"/>
              <a:buChar char="•"/>
            </a:pPr>
            <a:r>
              <a:rPr lang="en-US" sz="2400" dirty="0">
                <a:solidFill>
                  <a:srgbClr val="2B3541"/>
                </a:solidFill>
                <a:latin typeface="Times New Roman" panose="02020603050405020304" pitchFamily="18" charset="0"/>
                <a:ea typeface="Times New Roman"/>
                <a:cs typeface="Times New Roman" panose="02020603050405020304" pitchFamily="18" charset="0"/>
                <a:sym typeface="Times New Roman"/>
              </a:rPr>
              <a:t>Public transport optimization</a:t>
            </a:r>
          </a:p>
          <a:p>
            <a:pPr marL="342900" lvl="0" indent="-342900">
              <a:lnSpc>
                <a:spcPct val="162162"/>
              </a:lnSpc>
              <a:buClr>
                <a:srgbClr val="2B3541"/>
              </a:buClr>
              <a:buSzPts val="1850"/>
              <a:buFont typeface="Arial" panose="020B0604020202020204" pitchFamily="34" charset="0"/>
              <a:buChar char="•"/>
            </a:pPr>
            <a:r>
              <a:rPr lang="en-US" sz="2400" dirty="0">
                <a:solidFill>
                  <a:srgbClr val="2B3541"/>
                </a:solidFill>
                <a:latin typeface="Times New Roman" panose="02020603050405020304" pitchFamily="18" charset="0"/>
                <a:ea typeface="Times New Roman"/>
                <a:cs typeface="Times New Roman" panose="02020603050405020304" pitchFamily="18" charset="0"/>
                <a:sym typeface="Times New Roman"/>
              </a:rPr>
              <a:t>Emergency vehicle routing</a:t>
            </a:r>
          </a:p>
          <a:p>
            <a:pPr marL="342900" lvl="0" indent="-342900">
              <a:lnSpc>
                <a:spcPct val="162162"/>
              </a:lnSpc>
              <a:buClr>
                <a:srgbClr val="2B3541"/>
              </a:buClr>
              <a:buSzPts val="1850"/>
              <a:buFont typeface="Arial" panose="020B0604020202020204" pitchFamily="34" charset="0"/>
              <a:buChar char="•"/>
            </a:pPr>
            <a:r>
              <a:rPr lang="en-US" sz="2400" dirty="0">
                <a:solidFill>
                  <a:srgbClr val="2B3541"/>
                </a:solidFill>
                <a:latin typeface="Times New Roman" panose="02020603050405020304" pitchFamily="18" charset="0"/>
                <a:ea typeface="Times New Roman"/>
                <a:cs typeface="Times New Roman" panose="02020603050405020304" pitchFamily="18" charset="0"/>
                <a:sym typeface="Times New Roman"/>
              </a:rPr>
              <a:t>Citizen traffic advisory apps</a:t>
            </a:r>
          </a:p>
          <a:p>
            <a:pPr marL="342900" lvl="0" indent="-342900">
              <a:lnSpc>
                <a:spcPct val="162162"/>
              </a:lnSpc>
              <a:buClr>
                <a:srgbClr val="2B3541"/>
              </a:buClr>
              <a:buSzPts val="1850"/>
              <a:buFont typeface="Arial" panose="020B0604020202020204" pitchFamily="34" charset="0"/>
              <a:buChar char="•"/>
            </a:pPr>
            <a:r>
              <a:rPr lang="en-US" sz="2400" dirty="0">
                <a:solidFill>
                  <a:srgbClr val="2B3541"/>
                </a:solidFill>
                <a:latin typeface="Times New Roman" panose="02020603050405020304" pitchFamily="18" charset="0"/>
                <a:ea typeface="Times New Roman"/>
                <a:cs typeface="Times New Roman" panose="02020603050405020304" pitchFamily="18" charset="0"/>
                <a:sym typeface="Times New Roman"/>
              </a:rPr>
              <a:t>Autonomous traffic management systems</a:t>
            </a:r>
            <a:endParaRPr lang="en-US" sz="2400" b="0" i="0" u="none" strike="noStrike" cap="none" dirty="0">
              <a:solidFill>
                <a:srgbClr val="000000"/>
              </a:solidFill>
              <a:latin typeface="Times New Roman" panose="02020603050405020304" pitchFamily="18" charset="0"/>
              <a:ea typeface="Times New Roman"/>
              <a:cs typeface="Times New Roman" panose="02020603050405020304" pitchFamily="18" charset="0"/>
              <a:sym typeface="Times New Roman"/>
            </a:endParaRPr>
          </a:p>
        </p:txBody>
      </p:sp>
      <p:sp>
        <p:nvSpPr>
          <p:cNvPr id="280" name="Google Shape;280;p18">
            <a:extLst>
              <a:ext uri="{FF2B5EF4-FFF2-40B4-BE49-F238E27FC236}">
                <a16:creationId xmlns:a16="http://schemas.microsoft.com/office/drawing/2014/main" id="{B888011B-E4AC-77DB-4A60-BE2C891C49F5}"/>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a:t>
            </a:r>
            <a:endParaRPr sz="1850" b="0" i="0" u="none" strike="noStrike" cap="none" dirty="0">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91F05971-9256-10B5-6575-4E7C679C6DAA}"/>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a:t>
            </a:r>
            <a:endParaRPr sz="1850" b="0" i="0" u="none" strike="noStrike" cap="none" dirty="0">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F1C3EBC2-438F-C150-9ABF-F14321C2CC5C}"/>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a:t>
            </a:r>
            <a:endParaRPr sz="1850" b="0" i="0" u="none" strike="noStrike" cap="none" dirty="0">
              <a:solidFill>
                <a:srgbClr val="000000"/>
              </a:solidFill>
              <a:latin typeface="Times New Roman"/>
              <a:ea typeface="Times New Roman"/>
              <a:cs typeface="Times New Roman"/>
              <a:sym typeface="Times New Roman"/>
            </a:endParaRPr>
          </a:p>
        </p:txBody>
      </p:sp>
      <p:pic>
        <p:nvPicPr>
          <p:cNvPr id="3" name="Picture 2">
            <a:extLst>
              <a:ext uri="{FF2B5EF4-FFF2-40B4-BE49-F238E27FC236}">
                <a16:creationId xmlns:a16="http://schemas.microsoft.com/office/drawing/2014/main" id="{B96DCFED-2C83-7A17-CDB2-A4F4D4BBD1D5}"/>
              </a:ext>
            </a:extLst>
          </p:cNvPr>
          <p:cNvPicPr>
            <a:picLocks noChangeAspect="1"/>
          </p:cNvPicPr>
          <p:nvPr/>
        </p:nvPicPr>
        <p:blipFill>
          <a:blip r:embed="rId3"/>
          <a:stretch>
            <a:fillRect/>
          </a:stretch>
        </p:blipFill>
        <p:spPr>
          <a:xfrm>
            <a:off x="335797" y="6315517"/>
            <a:ext cx="11520407" cy="310052"/>
          </a:xfrm>
          <a:prstGeom prst="rect">
            <a:avLst/>
          </a:prstGeom>
        </p:spPr>
      </p:pic>
    </p:spTree>
    <p:extLst>
      <p:ext uri="{BB962C8B-B14F-4D97-AF65-F5344CB8AC3E}">
        <p14:creationId xmlns:p14="http://schemas.microsoft.com/office/powerpoint/2010/main" val="213670672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55016524-E738-3D8C-3BB2-B0BE7C665318}"/>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D62F03A8-A8A8-CB93-006E-7173DC866F6F}"/>
              </a:ext>
            </a:extLst>
          </p:cNvPr>
          <p:cNvSpPr/>
          <p:nvPr/>
        </p:nvSpPr>
        <p:spPr>
          <a:xfrm>
            <a:off x="1218724" y="420729"/>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Clr>
                <a:srgbClr val="051D3A"/>
              </a:buClr>
              <a:buSzPts val="3500"/>
              <a:buFont typeface="Times New Roman"/>
              <a:buNone/>
            </a:pPr>
            <a:r>
              <a:rPr lang="en-US" sz="3500" b="1" i="0" u="none" strike="noStrike" cap="none" dirty="0">
                <a:solidFill>
                  <a:srgbClr val="051D3A"/>
                </a:solidFill>
                <a:latin typeface="Times New Roman"/>
                <a:ea typeface="Times New Roman"/>
                <a:cs typeface="Times New Roman"/>
                <a:sym typeface="Times New Roman"/>
              </a:rPr>
              <a:t>Git Hub Link</a:t>
            </a:r>
            <a:endParaRPr sz="3500" b="1" i="0" u="none" strike="noStrike" cap="none" dirty="0">
              <a:solidFill>
                <a:srgbClr val="000000"/>
              </a:solidFill>
              <a:latin typeface="Times New Roman"/>
              <a:ea typeface="Times New Roman"/>
              <a:cs typeface="Times New Roman"/>
              <a:sym typeface="Times New Roman"/>
            </a:endParaRPr>
          </a:p>
        </p:txBody>
      </p:sp>
      <p:sp>
        <p:nvSpPr>
          <p:cNvPr id="279" name="Google Shape;279;p18">
            <a:extLst>
              <a:ext uri="{FF2B5EF4-FFF2-40B4-BE49-F238E27FC236}">
                <a16:creationId xmlns:a16="http://schemas.microsoft.com/office/drawing/2014/main" id="{15507A2F-9304-7475-5C74-2BAA93879CFE}"/>
              </a:ext>
            </a:extLst>
          </p:cNvPr>
          <p:cNvSpPr/>
          <p:nvPr/>
        </p:nvSpPr>
        <p:spPr>
          <a:xfrm>
            <a:off x="1282732" y="1393947"/>
            <a:ext cx="9214580" cy="4277001"/>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dirty="0">
                <a:solidFill>
                  <a:srgbClr val="2B3541"/>
                </a:solidFill>
                <a:latin typeface="Times New Roman"/>
                <a:ea typeface="Times New Roman"/>
                <a:cs typeface="Times New Roman"/>
                <a:sym typeface="Times New Roman"/>
              </a:rPr>
              <a:t>The working  </a:t>
            </a:r>
            <a:r>
              <a:rPr lang="en-US" sz="1850" dirty="0" err="1">
                <a:solidFill>
                  <a:srgbClr val="2B3541"/>
                </a:solidFill>
                <a:latin typeface="Times New Roman"/>
                <a:ea typeface="Times New Roman"/>
                <a:cs typeface="Times New Roman"/>
                <a:sym typeface="Times New Roman"/>
              </a:rPr>
              <a:t>Github</a:t>
            </a:r>
            <a:r>
              <a:rPr lang="en-US" sz="1850" dirty="0">
                <a:solidFill>
                  <a:srgbClr val="2B3541"/>
                </a:solidFill>
                <a:latin typeface="Times New Roman"/>
                <a:ea typeface="Times New Roman"/>
                <a:cs typeface="Times New Roman"/>
                <a:sym typeface="Times New Roman"/>
              </a:rPr>
              <a:t> URL –  https://github.com/jhanavic9999/Traffic-Congestion-Hotspots.git</a:t>
            </a:r>
          </a:p>
          <a:p>
            <a:pPr lvl="0">
              <a:lnSpc>
                <a:spcPct val="162162"/>
              </a:lnSpc>
              <a:buClr>
                <a:srgbClr val="2B3541"/>
              </a:buClr>
              <a:buSzPts val="1850"/>
            </a:pPr>
            <a:r>
              <a:rPr lang="en-US" sz="1850" b="1" dirty="0">
                <a:solidFill>
                  <a:srgbClr val="2B3541"/>
                </a:solidFill>
                <a:latin typeface="Times New Roman"/>
                <a:ea typeface="Times New Roman"/>
                <a:cs typeface="Times New Roman"/>
                <a:sym typeface="Times New Roman"/>
              </a:rPr>
              <a:t>Three files </a:t>
            </a:r>
            <a:r>
              <a:rPr lang="en-US" sz="1850" b="1" dirty="0" err="1">
                <a:solidFill>
                  <a:srgbClr val="2B3541"/>
                </a:solidFill>
                <a:latin typeface="Times New Roman"/>
                <a:ea typeface="Times New Roman"/>
                <a:cs typeface="Times New Roman"/>
                <a:sym typeface="Times New Roman"/>
              </a:rPr>
              <a:t>github</a:t>
            </a:r>
            <a:r>
              <a:rPr lang="en-US" sz="1850" b="1" dirty="0">
                <a:solidFill>
                  <a:srgbClr val="2B3541"/>
                </a:solidFill>
                <a:latin typeface="Times New Roman"/>
                <a:ea typeface="Times New Roman"/>
                <a:cs typeface="Times New Roman"/>
                <a:sym typeface="Times New Roman"/>
              </a:rPr>
              <a:t> repository :</a:t>
            </a:r>
            <a:br>
              <a:rPr lang="en-US" sz="1850" dirty="0">
                <a:solidFill>
                  <a:srgbClr val="2B3541"/>
                </a:solidFill>
                <a:latin typeface="Times New Roman"/>
                <a:ea typeface="Times New Roman"/>
                <a:cs typeface="Times New Roman"/>
                <a:sym typeface="Times New Roman"/>
              </a:rPr>
            </a:br>
            <a:r>
              <a:rPr lang="en-US" sz="1850" dirty="0">
                <a:solidFill>
                  <a:srgbClr val="2B3541"/>
                </a:solidFill>
                <a:latin typeface="Times New Roman"/>
                <a:ea typeface="Times New Roman"/>
                <a:cs typeface="Times New Roman"/>
                <a:sym typeface="Times New Roman"/>
              </a:rPr>
              <a:t>1) Traffic Congestion Hotspots (</a:t>
            </a:r>
            <a:r>
              <a:rPr lang="en-US" sz="1850" dirty="0" err="1">
                <a:solidFill>
                  <a:srgbClr val="2B3541"/>
                </a:solidFill>
                <a:latin typeface="Times New Roman"/>
                <a:ea typeface="Times New Roman"/>
                <a:cs typeface="Times New Roman"/>
                <a:sym typeface="Times New Roman"/>
              </a:rPr>
              <a:t>Langflow</a:t>
            </a:r>
            <a:r>
              <a:rPr lang="en-US" sz="1850" dirty="0">
                <a:solidFill>
                  <a:srgbClr val="2B3541"/>
                </a:solidFill>
                <a:latin typeface="Times New Roman"/>
                <a:ea typeface="Times New Roman"/>
                <a:cs typeface="Times New Roman"/>
                <a:sym typeface="Times New Roman"/>
              </a:rPr>
              <a:t> model export ) file , </a:t>
            </a:r>
          </a:p>
          <a:p>
            <a:pPr lvl="0">
              <a:lnSpc>
                <a:spcPct val="162162"/>
              </a:lnSpc>
              <a:buClr>
                <a:srgbClr val="2B3541"/>
              </a:buClr>
              <a:buSzPts val="1850"/>
            </a:pPr>
            <a:r>
              <a:rPr lang="en-US" sz="1850" dirty="0">
                <a:solidFill>
                  <a:srgbClr val="2B3541"/>
                </a:solidFill>
                <a:latin typeface="Times New Roman"/>
                <a:ea typeface="Times New Roman"/>
                <a:cs typeface="Times New Roman"/>
                <a:sym typeface="Times New Roman"/>
              </a:rPr>
              <a:t>2) hackthon_problemstatement.pdf file  </a:t>
            </a:r>
          </a:p>
          <a:p>
            <a:pPr lvl="0">
              <a:lnSpc>
                <a:spcPct val="162162"/>
              </a:lnSpc>
              <a:buClr>
                <a:srgbClr val="2B3541"/>
              </a:buClr>
              <a:buSzPts val="1850"/>
            </a:pPr>
            <a:r>
              <a:rPr lang="en-US" sz="1850" dirty="0">
                <a:solidFill>
                  <a:srgbClr val="2B3541"/>
                </a:solidFill>
                <a:latin typeface="Times New Roman"/>
                <a:ea typeface="Times New Roman"/>
                <a:cs typeface="Times New Roman"/>
                <a:sym typeface="Times New Roman"/>
              </a:rPr>
              <a:t>3) projectpresntation.pptx file </a:t>
            </a:r>
          </a:p>
          <a:p>
            <a:pPr lvl="0">
              <a:lnSpc>
                <a:spcPct val="162162"/>
              </a:lnSpc>
              <a:buClr>
                <a:srgbClr val="2B3541"/>
              </a:buClr>
              <a:buSzPts val="1850"/>
            </a:pPr>
            <a:endParaRPr lang="en-US" sz="1850" dirty="0">
              <a:solidFill>
                <a:srgbClr val="2B3541"/>
              </a:solidFill>
              <a:latin typeface="Times New Roman"/>
              <a:ea typeface="Times New Roman"/>
              <a:cs typeface="Times New Roman"/>
              <a:sym typeface="Times New Roman"/>
            </a:endParaRPr>
          </a:p>
        </p:txBody>
      </p:sp>
      <p:sp>
        <p:nvSpPr>
          <p:cNvPr id="280" name="Google Shape;280;p18">
            <a:extLst>
              <a:ext uri="{FF2B5EF4-FFF2-40B4-BE49-F238E27FC236}">
                <a16:creationId xmlns:a16="http://schemas.microsoft.com/office/drawing/2014/main" id="{A4423EF4-BB52-2693-03DD-9F7D92D05218}"/>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a:t>
            </a:r>
            <a:endParaRPr sz="1850" b="0" i="0" u="none" strike="noStrike" cap="none" dirty="0">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FF042814-8077-DBD5-E8B6-E0D870CADB86}"/>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a:t>
            </a:r>
            <a:endParaRPr sz="1850" b="0" i="0" u="none" strike="noStrike" cap="none" dirty="0">
              <a:solidFill>
                <a:srgbClr val="000000"/>
              </a:solidFill>
              <a:latin typeface="Times New Roman"/>
              <a:ea typeface="Times New Roman"/>
              <a:cs typeface="Times New Roman"/>
              <a:sym typeface="Times New Roman"/>
            </a:endParaRPr>
          </a:p>
        </p:txBody>
      </p:sp>
      <p:pic>
        <p:nvPicPr>
          <p:cNvPr id="3" name="Picture 2">
            <a:extLst>
              <a:ext uri="{FF2B5EF4-FFF2-40B4-BE49-F238E27FC236}">
                <a16:creationId xmlns:a16="http://schemas.microsoft.com/office/drawing/2014/main" id="{B8925A06-F7F9-F25E-EBB3-1891B33446BF}"/>
              </a:ext>
            </a:extLst>
          </p:cNvPr>
          <p:cNvPicPr>
            <a:picLocks noChangeAspect="1"/>
          </p:cNvPicPr>
          <p:nvPr/>
        </p:nvPicPr>
        <p:blipFill>
          <a:blip r:embed="rId3"/>
          <a:stretch>
            <a:fillRect/>
          </a:stretch>
        </p:blipFill>
        <p:spPr>
          <a:xfrm>
            <a:off x="335797" y="6315517"/>
            <a:ext cx="11520407" cy="310052"/>
          </a:xfrm>
          <a:prstGeom prst="rect">
            <a:avLst/>
          </a:prstGeom>
        </p:spPr>
      </p:pic>
    </p:spTree>
    <p:extLst>
      <p:ext uri="{BB962C8B-B14F-4D97-AF65-F5344CB8AC3E}">
        <p14:creationId xmlns:p14="http://schemas.microsoft.com/office/powerpoint/2010/main" val="211548487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FECD098C-4ECF-993B-66E2-9989F83F62D9}"/>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7BDA5ADF-C9A0-CA5D-844A-6AC3872A0D8C}"/>
              </a:ext>
            </a:extLst>
          </p:cNvPr>
          <p:cNvSpPr/>
          <p:nvPr/>
        </p:nvSpPr>
        <p:spPr>
          <a:xfrm>
            <a:off x="1218724" y="420729"/>
            <a:ext cx="6444496" cy="704017"/>
          </a:xfrm>
          <a:prstGeom prst="rect">
            <a:avLst/>
          </a:prstGeom>
          <a:noFill/>
          <a:ln>
            <a:noFill/>
          </a:ln>
        </p:spPr>
        <p:txBody>
          <a:bodyPr spcFirstLastPara="1" wrap="square" lIns="0" tIns="0" rIns="0" bIns="0" anchor="t" anchorCtr="0">
            <a:noAutofit/>
          </a:bodyPr>
          <a:lstStyle/>
          <a:p>
            <a:pPr>
              <a:lnSpc>
                <a:spcPct val="157142"/>
              </a:lnSpc>
            </a:pPr>
            <a:r>
              <a:rPr lang="en-US" sz="3200" b="1" dirty="0">
                <a:solidFill>
                  <a:srgbClr val="051D3A"/>
                </a:solidFill>
                <a:latin typeface="Times New Roman" panose="02020603050405020304" pitchFamily="18" charset="0"/>
                <a:cs typeface="Times New Roman" panose="02020603050405020304" pitchFamily="18" charset="0"/>
                <a:sym typeface="Times New Roman"/>
              </a:rPr>
              <a:t>References</a:t>
            </a:r>
            <a:r>
              <a:rPr lang="en-US" sz="3500" b="1" dirty="0">
                <a:solidFill>
                  <a:srgbClr val="051D3A"/>
                </a:solidFill>
                <a:latin typeface="Times New Roman"/>
                <a:cs typeface="Times New Roman"/>
                <a:sym typeface="Times New Roman"/>
              </a:rPr>
              <a:t> </a:t>
            </a:r>
            <a:endParaRPr lang="en-US" dirty="0"/>
          </a:p>
        </p:txBody>
      </p:sp>
      <p:sp>
        <p:nvSpPr>
          <p:cNvPr id="279" name="Google Shape;279;p18">
            <a:extLst>
              <a:ext uri="{FF2B5EF4-FFF2-40B4-BE49-F238E27FC236}">
                <a16:creationId xmlns:a16="http://schemas.microsoft.com/office/drawing/2014/main" id="{AF5AFD00-74FD-B439-5973-23933ABD88EC}"/>
              </a:ext>
            </a:extLst>
          </p:cNvPr>
          <p:cNvSpPr/>
          <p:nvPr/>
        </p:nvSpPr>
        <p:spPr>
          <a:xfrm>
            <a:off x="1282732" y="1393947"/>
            <a:ext cx="9214580" cy="4277001"/>
          </a:xfrm>
          <a:prstGeom prst="rect">
            <a:avLst/>
          </a:prstGeom>
          <a:noFill/>
          <a:ln>
            <a:noFill/>
          </a:ln>
        </p:spPr>
        <p:txBody>
          <a:bodyPr spcFirstLastPara="1" wrap="square" lIns="0" tIns="0" rIns="0" bIns="0" anchor="t" anchorCtr="0">
            <a:noAutofit/>
          </a:bodyPr>
          <a:lstStyle/>
          <a:p>
            <a:pPr marL="342900" indent="-342900">
              <a:lnSpc>
                <a:spcPct val="162162"/>
              </a:lnSpc>
              <a:buClr>
                <a:srgbClr val="2B3541"/>
              </a:buClr>
              <a:buSzPts val="1850"/>
              <a:buFont typeface="Arial" panose="020B0604020202020204" pitchFamily="34" charset="0"/>
              <a:buChar char="•"/>
            </a:pPr>
            <a:r>
              <a:rPr lang="en-US" sz="2400" dirty="0">
                <a:solidFill>
                  <a:srgbClr val="2B3541"/>
                </a:solidFill>
                <a:latin typeface="Times New Roman" panose="02020603050405020304" pitchFamily="18" charset="0"/>
                <a:ea typeface="Times New Roman"/>
                <a:cs typeface="Times New Roman" panose="02020603050405020304" pitchFamily="18" charset="0"/>
                <a:sym typeface="Times New Roman"/>
              </a:rPr>
              <a:t>Smart City Traffic Management Frameworks</a:t>
            </a:r>
          </a:p>
          <a:p>
            <a:pPr marL="342900" indent="-342900">
              <a:lnSpc>
                <a:spcPct val="162162"/>
              </a:lnSpc>
              <a:buClr>
                <a:srgbClr val="2B3541"/>
              </a:buClr>
              <a:buSzPts val="1850"/>
              <a:buFont typeface="Arial" panose="020B0604020202020204" pitchFamily="34" charset="0"/>
              <a:buChar char="•"/>
            </a:pPr>
            <a:r>
              <a:rPr lang="en-US" sz="2400" dirty="0">
                <a:solidFill>
                  <a:srgbClr val="2B3541"/>
                </a:solidFill>
                <a:latin typeface="Times New Roman" panose="02020603050405020304" pitchFamily="18" charset="0"/>
                <a:ea typeface="Times New Roman"/>
                <a:cs typeface="Times New Roman" panose="02020603050405020304" pitchFamily="18" charset="0"/>
                <a:sym typeface="Times New Roman"/>
              </a:rPr>
              <a:t>Urban Mobility Planning Guidelines</a:t>
            </a:r>
          </a:p>
          <a:p>
            <a:pPr marL="342900" indent="-342900">
              <a:lnSpc>
                <a:spcPct val="162162"/>
              </a:lnSpc>
              <a:buClr>
                <a:srgbClr val="2B3541"/>
              </a:buClr>
              <a:buSzPts val="1850"/>
              <a:buFont typeface="Arial" panose="020B0604020202020204" pitchFamily="34" charset="0"/>
              <a:buChar char="•"/>
            </a:pPr>
            <a:r>
              <a:rPr lang="en-US" sz="2400" dirty="0">
                <a:solidFill>
                  <a:srgbClr val="2B3541"/>
                </a:solidFill>
                <a:latin typeface="Times New Roman" panose="02020603050405020304" pitchFamily="18" charset="0"/>
                <a:ea typeface="Times New Roman"/>
                <a:cs typeface="Times New Roman" panose="02020603050405020304" pitchFamily="18" charset="0"/>
                <a:sym typeface="Times New Roman"/>
              </a:rPr>
              <a:t>IBM Watsonx Documentation</a:t>
            </a:r>
          </a:p>
          <a:p>
            <a:pPr marL="342900" indent="-342900">
              <a:lnSpc>
                <a:spcPct val="162162"/>
              </a:lnSpc>
              <a:buClr>
                <a:srgbClr val="2B3541"/>
              </a:buClr>
              <a:buSzPts val="1850"/>
              <a:buFont typeface="Arial" panose="020B0604020202020204" pitchFamily="34" charset="0"/>
              <a:buChar char="•"/>
            </a:pPr>
            <a:r>
              <a:rPr lang="en-US" sz="2400" dirty="0">
                <a:solidFill>
                  <a:srgbClr val="2B3541"/>
                </a:solidFill>
                <a:latin typeface="Times New Roman" panose="02020603050405020304" pitchFamily="18" charset="0"/>
                <a:ea typeface="Times New Roman"/>
                <a:cs typeface="Times New Roman" panose="02020603050405020304" pitchFamily="18" charset="0"/>
                <a:sym typeface="Times New Roman"/>
              </a:rPr>
              <a:t>IBM Granite Model Documentation</a:t>
            </a:r>
          </a:p>
          <a:p>
            <a:pPr marL="342900" indent="-342900">
              <a:lnSpc>
                <a:spcPct val="162162"/>
              </a:lnSpc>
              <a:buClr>
                <a:srgbClr val="2B3541"/>
              </a:buClr>
              <a:buSzPts val="1850"/>
              <a:buFont typeface="Arial" panose="020B0604020202020204" pitchFamily="34" charset="0"/>
              <a:buChar char="•"/>
            </a:pPr>
            <a:r>
              <a:rPr lang="en-US" sz="2400" dirty="0">
                <a:solidFill>
                  <a:srgbClr val="2B3541"/>
                </a:solidFill>
                <a:latin typeface="Times New Roman" panose="02020603050405020304" pitchFamily="18" charset="0"/>
                <a:ea typeface="Times New Roman"/>
                <a:cs typeface="Times New Roman" panose="02020603050405020304" pitchFamily="18" charset="0"/>
                <a:sym typeface="Times New Roman"/>
              </a:rPr>
              <a:t>Langflow Documentation</a:t>
            </a:r>
          </a:p>
          <a:p>
            <a:pPr marL="342900" indent="-342900">
              <a:lnSpc>
                <a:spcPct val="162162"/>
              </a:lnSpc>
              <a:buClr>
                <a:srgbClr val="2B3541"/>
              </a:buClr>
              <a:buSzPts val="1850"/>
              <a:buFont typeface="Arial" panose="020B0604020202020204" pitchFamily="34" charset="0"/>
              <a:buChar char="•"/>
            </a:pPr>
            <a:r>
              <a:rPr lang="en-US" sz="2400" dirty="0">
                <a:solidFill>
                  <a:srgbClr val="2B3541"/>
                </a:solidFill>
                <a:latin typeface="Times New Roman" panose="02020603050405020304" pitchFamily="18" charset="0"/>
                <a:ea typeface="Times New Roman"/>
                <a:cs typeface="Times New Roman" panose="02020603050405020304" pitchFamily="18" charset="0"/>
                <a:sym typeface="Times New Roman"/>
              </a:rPr>
              <a:t>FAISS Vector Database DocumentationAI in Intelligent Transportation Systems Research Papers</a:t>
            </a:r>
            <a:endParaRPr sz="2400" b="0" i="0" u="none" strike="noStrike" cap="none" dirty="0">
              <a:solidFill>
                <a:srgbClr val="000000"/>
              </a:solidFill>
              <a:latin typeface="Times New Roman" panose="02020603050405020304" pitchFamily="18" charset="0"/>
              <a:ea typeface="Times New Roman"/>
              <a:cs typeface="Times New Roman" panose="02020603050405020304" pitchFamily="18" charset="0"/>
              <a:sym typeface="Times New Roman"/>
            </a:endParaRPr>
          </a:p>
        </p:txBody>
      </p:sp>
      <p:sp>
        <p:nvSpPr>
          <p:cNvPr id="280" name="Google Shape;280;p18">
            <a:extLst>
              <a:ext uri="{FF2B5EF4-FFF2-40B4-BE49-F238E27FC236}">
                <a16:creationId xmlns:a16="http://schemas.microsoft.com/office/drawing/2014/main" id="{D86E9480-AE0D-8F00-984F-1C0F8F53C1EC}"/>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a:t>
            </a:r>
            <a:endParaRPr sz="1850" b="0" i="0" u="none" strike="noStrike" cap="none" dirty="0">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48F2A10B-67AA-AAE6-232F-CFA602CB53A9}"/>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a:t>
            </a:r>
            <a:endParaRPr sz="1850" b="0" i="0" u="none" strike="noStrike" cap="none" dirty="0">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C95F8CEF-91B5-DD0D-C876-1BFF8ED80FBF}"/>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a:t>
            </a:r>
            <a:endParaRPr sz="1850" b="0" i="0" u="none" strike="noStrike" cap="none" dirty="0">
              <a:solidFill>
                <a:srgbClr val="000000"/>
              </a:solidFill>
              <a:latin typeface="Times New Roman"/>
              <a:ea typeface="Times New Roman"/>
              <a:cs typeface="Times New Roman"/>
              <a:sym typeface="Times New Roman"/>
            </a:endParaRPr>
          </a:p>
        </p:txBody>
      </p:sp>
      <p:pic>
        <p:nvPicPr>
          <p:cNvPr id="3" name="Picture 2">
            <a:extLst>
              <a:ext uri="{FF2B5EF4-FFF2-40B4-BE49-F238E27FC236}">
                <a16:creationId xmlns:a16="http://schemas.microsoft.com/office/drawing/2014/main" id="{8760EC5B-78FF-4D99-1A49-A2DD6DB4A362}"/>
              </a:ext>
            </a:extLst>
          </p:cNvPr>
          <p:cNvPicPr>
            <a:picLocks noChangeAspect="1"/>
          </p:cNvPicPr>
          <p:nvPr/>
        </p:nvPicPr>
        <p:blipFill>
          <a:blip r:embed="rId3"/>
          <a:stretch>
            <a:fillRect/>
          </a:stretch>
        </p:blipFill>
        <p:spPr>
          <a:xfrm>
            <a:off x="335797" y="6315517"/>
            <a:ext cx="11520407" cy="310052"/>
          </a:xfrm>
          <a:prstGeom prst="rect">
            <a:avLst/>
          </a:prstGeom>
        </p:spPr>
      </p:pic>
    </p:spTree>
    <p:extLst>
      <p:ext uri="{BB962C8B-B14F-4D97-AF65-F5344CB8AC3E}">
        <p14:creationId xmlns:p14="http://schemas.microsoft.com/office/powerpoint/2010/main" val="20015631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306"/>
        <p:cNvGrpSpPr/>
        <p:nvPr/>
      </p:nvGrpSpPr>
      <p:grpSpPr>
        <a:xfrm>
          <a:off x="0" y="0"/>
          <a:ext cx="0" cy="0"/>
          <a:chOff x="0" y="0"/>
          <a:chExt cx="0" cy="0"/>
        </a:xfrm>
      </p:grpSpPr>
      <p:pic>
        <p:nvPicPr>
          <p:cNvPr id="310" name="Google Shape;310;p20"/>
          <p:cNvPicPr preferRelativeResize="0"/>
          <p:nvPr/>
        </p:nvPicPr>
        <p:blipFill rotWithShape="1">
          <a:blip r:embed="rId3">
            <a:alphaModFix/>
          </a:blip>
          <a:srcRect/>
          <a:stretch/>
        </p:blipFill>
        <p:spPr>
          <a:xfrm>
            <a:off x="0" y="2190302"/>
            <a:ext cx="12192000" cy="2477396"/>
          </a:xfrm>
          <a:prstGeom prst="rect">
            <a:avLst/>
          </a:prstGeom>
          <a:noFill/>
          <a:ln>
            <a:noFill/>
          </a:ln>
        </p:spPr>
      </p:pic>
      <p:pic>
        <p:nvPicPr>
          <p:cNvPr id="3" name="Picture 2">
            <a:extLst>
              <a:ext uri="{FF2B5EF4-FFF2-40B4-BE49-F238E27FC236}">
                <a16:creationId xmlns:a16="http://schemas.microsoft.com/office/drawing/2014/main" id="{BA9DDD0D-7A91-1E4E-00BA-F7FF05ABF76F}"/>
              </a:ext>
            </a:extLst>
          </p:cNvPr>
          <p:cNvPicPr>
            <a:picLocks noChangeAspect="1"/>
          </p:cNvPicPr>
          <p:nvPr/>
        </p:nvPicPr>
        <p:blipFill>
          <a:blip r:embed="rId4"/>
          <a:stretch>
            <a:fillRect/>
          </a:stretch>
        </p:blipFill>
        <p:spPr>
          <a:xfrm>
            <a:off x="335797" y="6315517"/>
            <a:ext cx="11520407" cy="310052"/>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1243</TotalTime>
  <Words>515</Words>
  <Application>Microsoft Office PowerPoint</Application>
  <PresentationFormat>Widescreen</PresentationFormat>
  <Paragraphs>106</Paragraphs>
  <Slides>20</Slides>
  <Notes>17</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20</vt:i4>
      </vt:variant>
    </vt:vector>
  </HeadingPairs>
  <TitlesOfParts>
    <vt:vector size="24" baseType="lpstr">
      <vt:lpstr>Arial</vt:lpstr>
      <vt:lpstr>Calibri</vt:lpstr>
      <vt:lpstr>Times New Roman</vt:lpstr>
      <vt:lpstr>Office Theme</vt:lpstr>
      <vt:lpstr>Agentic AI Hackathon: Building Intelligent Agents with IBM Granite and LangFlow</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Manda Anirudh</dc:creator>
  <cp:lastModifiedBy>impana3725@outlook.com</cp:lastModifiedBy>
  <cp:revision>122</cp:revision>
  <dcterms:created xsi:type="dcterms:W3CDTF">2025-07-08T05:06:56Z</dcterms:created>
  <dcterms:modified xsi:type="dcterms:W3CDTF">2026-02-01T12:04:55Z</dcterms:modified>
</cp:coreProperties>
</file>